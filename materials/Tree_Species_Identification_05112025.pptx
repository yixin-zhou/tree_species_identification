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9" r:id="rId2"/>
    <p:sldId id="282" r:id="rId3"/>
    <p:sldId id="283" r:id="rId4"/>
    <p:sldId id="284" r:id="rId5"/>
    <p:sldId id="28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996571-1F8E-43CF-57E1-ED87F672A8EC}" name="Yixin Zhou" initials="YZ" userId="698a770e3f194361" providerId="Windows Live"/>
  <p188:author id="{8908AB7A-7E45-572C-1BD8-D7A0C0729557}" name="Xu  Haofei" initials="XH" userId="S::haofxu@ethz.ch::39f92f57-e981-4a7c-bdfc-f1e3bf123dd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26" autoAdjust="0"/>
    <p:restoredTop sz="91726" autoAdjust="0"/>
  </p:normalViewPr>
  <p:slideViewPr>
    <p:cSldViewPr snapToGrid="0" showGuides="1">
      <p:cViewPr varScale="1">
        <p:scale>
          <a:sx n="111" d="100"/>
          <a:sy n="111" d="100"/>
        </p:scale>
        <p:origin x="523" y="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12" d="100"/>
          <a:sy n="112" d="100"/>
        </p:scale>
        <p:origin x="4773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05.11.2025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05.11.2025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3866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6DFD-F573-8DB6-485B-3E82D803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CEA505-5009-47EA-C104-21348197E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D07625-F987-9E8C-8406-568233BC5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DF7D7A-ACAC-9ABA-4E2E-2D1DFCEB4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709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0"/>
              <a:t>单击此处编辑母版标题样式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4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96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0"/>
              <a:t>单击此处编辑母版标题样式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4575276"/>
            <a:ext cx="10044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7200000" cy="216000"/>
          </a:xfrm>
        </p:spPr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5A3C0-7A2F-4A62-9057-882FB8F5659A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923CAD-8964-4A8E-9E9C-0F755B932903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206A-A7FF-4A2F-A4EA-EDA7D9956B8C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B7ECC-AD5B-4AE2-A84F-7ABFC0424E38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21818-B1F9-4DD3-88F2-43FBC3C9BAF5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A20D-9FD8-4251-A734-1127FF21ADB2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EA9-B322-4AC6-9ED4-333F1AAC8416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9B2A-9722-4479-8974-FDB801910172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zh-CN" altLang="en-US" noProof="0"/>
              <a:t>单击图标添加表格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zh-CN" altLang="en-US" noProof="0"/>
              <a:t>单击图标添加图片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269E37AB-EE9C-4565-B2FD-B1FC504BEE2A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" Type="http://schemas.openxmlformats.org/officeDocument/2006/relationships/tags" Target="../tags/tag2.xml"/><Relationship Id="rId16" Type="http://schemas.openxmlformats.org/officeDocument/2006/relationships/image" Target="../media/image26.png"/><Relationship Id="rId1" Type="http://schemas.openxmlformats.org/officeDocument/2006/relationships/tags" Target="../tags/tag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F7C1-FDC8-019B-39F0-C6833479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181CD2-B20D-2174-B8BF-3620260E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97" y="364310"/>
            <a:ext cx="10728325" cy="474463"/>
          </a:xfrm>
        </p:spPr>
        <p:txBody>
          <a:bodyPr/>
          <a:lstStyle/>
          <a:p>
            <a:r>
              <a:rPr lang="en-US" altLang="zh-CN" dirty="0"/>
              <a:t>Dataset Split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D9D8D2-8E21-9D88-47BB-2A3094EB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9A1C85-8661-B06B-E7A5-4534C108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</a:t>
            </a:fld>
            <a:endParaRPr lang="de-CH" noProof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9A8201-BB11-1C22-A484-059E7C5ABE04}"/>
              </a:ext>
            </a:extLst>
          </p:cNvPr>
          <p:cNvSpPr txBox="1"/>
          <p:nvPr/>
        </p:nvSpPr>
        <p:spPr>
          <a:xfrm>
            <a:off x="610747" y="1443700"/>
            <a:ext cx="7916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r>
              <a:rPr lang="en-US" altLang="zh-CN" sz="1400" dirty="0"/>
              <a:t> Prevent data leakage  ②Spatial independence    ③</a:t>
            </a:r>
            <a:r>
              <a:rPr lang="es-ES" altLang="zh-CN" sz="1400" dirty="0"/>
              <a:t> Class Balance for each subset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3D6EDF-DE29-E1EB-3EC5-BBD090AB8E28}"/>
              </a:ext>
            </a:extLst>
          </p:cNvPr>
          <p:cNvSpPr txBox="1"/>
          <p:nvPr/>
        </p:nvSpPr>
        <p:spPr>
          <a:xfrm>
            <a:off x="610746" y="999183"/>
            <a:ext cx="9647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1.  Main Principles of Remote Sensing Dataset</a:t>
            </a:r>
            <a:endParaRPr lang="zh-CN" altLang="en-US" sz="16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086E9E-13CC-3D25-7B41-14412E668436}"/>
              </a:ext>
            </a:extLst>
          </p:cNvPr>
          <p:cNvSpPr/>
          <p:nvPr/>
        </p:nvSpPr>
        <p:spPr>
          <a:xfrm>
            <a:off x="679497" y="1443700"/>
            <a:ext cx="3975005" cy="307777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6D7C64-251C-D718-B876-0F95B621DF10}"/>
              </a:ext>
            </a:extLst>
          </p:cNvPr>
          <p:cNvSpPr/>
          <p:nvPr/>
        </p:nvSpPr>
        <p:spPr>
          <a:xfrm>
            <a:off x="4731274" y="1451691"/>
            <a:ext cx="2806225" cy="307777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5AC5555-5888-83AC-6C7A-C5896FBC69AC}"/>
              </a:ext>
            </a:extLst>
          </p:cNvPr>
          <p:cNvSpPr txBox="1"/>
          <p:nvPr/>
        </p:nvSpPr>
        <p:spPr>
          <a:xfrm>
            <a:off x="1370452" y="1834627"/>
            <a:ext cx="2593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Grid-based sampling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AA63114-7281-3C7B-7D9D-09D343434A16}"/>
              </a:ext>
            </a:extLst>
          </p:cNvPr>
          <p:cNvSpPr txBox="1"/>
          <p:nvPr/>
        </p:nvSpPr>
        <p:spPr>
          <a:xfrm>
            <a:off x="4799453" y="1812467"/>
            <a:ext cx="2593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Integer Linear Programming (ILP) Problem</a:t>
            </a:r>
            <a:endParaRPr lang="zh-CN" altLang="en-US" sz="1400" b="1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AFEE7A1-354D-2FA1-4C37-89A2D299E8EA}"/>
              </a:ext>
            </a:extLst>
          </p:cNvPr>
          <p:cNvGrpSpPr/>
          <p:nvPr/>
        </p:nvGrpSpPr>
        <p:grpSpPr>
          <a:xfrm>
            <a:off x="4309584" y="2673604"/>
            <a:ext cx="3098800" cy="3187346"/>
            <a:chOff x="2714171" y="3335097"/>
            <a:chExt cx="3098800" cy="3187346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73F9780C-8989-F4D2-FC5A-3635C0DF6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404" t="13451" r="11638"/>
            <a:stretch>
              <a:fillRect/>
            </a:stretch>
          </p:blipFill>
          <p:spPr>
            <a:xfrm>
              <a:off x="2714171" y="3335097"/>
              <a:ext cx="3098800" cy="3187346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25924D66-CF24-238B-27F3-05F5B5DD99FB}"/>
                </a:ext>
              </a:extLst>
            </p:cNvPr>
            <p:cNvSpPr/>
            <p:nvPr/>
          </p:nvSpPr>
          <p:spPr>
            <a:xfrm>
              <a:off x="3302015" y="4542600"/>
              <a:ext cx="1038312" cy="1174282"/>
            </a:xfrm>
            <a:custGeom>
              <a:avLst/>
              <a:gdLst>
                <a:gd name="connsiteX0" fmla="*/ 130628 w 1155031"/>
                <a:gd name="connsiteY0" fmla="*/ 123753 h 1306286"/>
                <a:gd name="connsiteX1" fmla="*/ 591266 w 1155031"/>
                <a:gd name="connsiteY1" fmla="*/ 0 h 1306286"/>
                <a:gd name="connsiteX2" fmla="*/ 1155031 w 1155031"/>
                <a:gd name="connsiteY2" fmla="*/ 385010 h 1306286"/>
                <a:gd name="connsiteX3" fmla="*/ 1003777 w 1155031"/>
                <a:gd name="connsiteY3" fmla="*/ 928150 h 1306286"/>
                <a:gd name="connsiteX4" fmla="*/ 715019 w 1155031"/>
                <a:gd name="connsiteY4" fmla="*/ 1210033 h 1306286"/>
                <a:gd name="connsiteX5" fmla="*/ 364385 w 1155031"/>
                <a:gd name="connsiteY5" fmla="*/ 1306286 h 1306286"/>
                <a:gd name="connsiteX6" fmla="*/ 0 w 1155031"/>
                <a:gd name="connsiteY6" fmla="*/ 996902 h 1306286"/>
                <a:gd name="connsiteX7" fmla="*/ 55001 w 1155031"/>
                <a:gd name="connsiteY7" fmla="*/ 666893 h 1306286"/>
                <a:gd name="connsiteX8" fmla="*/ 130628 w 1155031"/>
                <a:gd name="connsiteY8" fmla="*/ 123753 h 130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5031" h="1306286">
                  <a:moveTo>
                    <a:pt x="130628" y="123753"/>
                  </a:moveTo>
                  <a:lnTo>
                    <a:pt x="591266" y="0"/>
                  </a:lnTo>
                  <a:lnTo>
                    <a:pt x="1155031" y="385010"/>
                  </a:lnTo>
                  <a:lnTo>
                    <a:pt x="1003777" y="928150"/>
                  </a:lnTo>
                  <a:lnTo>
                    <a:pt x="715019" y="1210033"/>
                  </a:lnTo>
                  <a:lnTo>
                    <a:pt x="364385" y="1306286"/>
                  </a:lnTo>
                  <a:lnTo>
                    <a:pt x="0" y="996902"/>
                  </a:lnTo>
                  <a:lnTo>
                    <a:pt x="55001" y="666893"/>
                  </a:lnTo>
                  <a:lnTo>
                    <a:pt x="130628" y="123753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3ACC5011-EB62-1F17-665F-C40E8EB2ED75}"/>
                </a:ext>
              </a:extLst>
            </p:cNvPr>
            <p:cNvSpPr/>
            <p:nvPr/>
          </p:nvSpPr>
          <p:spPr>
            <a:xfrm>
              <a:off x="4557348" y="3343088"/>
              <a:ext cx="797277" cy="1242268"/>
            </a:xfrm>
            <a:custGeom>
              <a:avLst/>
              <a:gdLst>
                <a:gd name="connsiteX0" fmla="*/ 515640 w 886900"/>
                <a:gd name="connsiteY0" fmla="*/ 0 h 1381913"/>
                <a:gd name="connsiteX1" fmla="*/ 68752 w 886900"/>
                <a:gd name="connsiteY1" fmla="*/ 371260 h 1381913"/>
                <a:gd name="connsiteX2" fmla="*/ 0 w 886900"/>
                <a:gd name="connsiteY2" fmla="*/ 783771 h 1381913"/>
                <a:gd name="connsiteX3" fmla="*/ 261258 w 886900"/>
                <a:gd name="connsiteY3" fmla="*/ 1113780 h 1381913"/>
                <a:gd name="connsiteX4" fmla="*/ 591267 w 886900"/>
                <a:gd name="connsiteY4" fmla="*/ 1381913 h 1381913"/>
                <a:gd name="connsiteX5" fmla="*/ 886900 w 886900"/>
                <a:gd name="connsiteY5" fmla="*/ 1278785 h 1381913"/>
                <a:gd name="connsiteX6" fmla="*/ 666894 w 886900"/>
                <a:gd name="connsiteY6" fmla="*/ 687519 h 1381913"/>
                <a:gd name="connsiteX7" fmla="*/ 797522 w 886900"/>
                <a:gd name="connsiteY7" fmla="*/ 350634 h 1381913"/>
                <a:gd name="connsiteX8" fmla="*/ 770022 w 886900"/>
                <a:gd name="connsiteY8" fmla="*/ 75627 h 1381913"/>
                <a:gd name="connsiteX9" fmla="*/ 515640 w 886900"/>
                <a:gd name="connsiteY9" fmla="*/ 0 h 1381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6900" h="1381913">
                  <a:moveTo>
                    <a:pt x="515640" y="0"/>
                  </a:moveTo>
                  <a:lnTo>
                    <a:pt x="68752" y="371260"/>
                  </a:lnTo>
                  <a:lnTo>
                    <a:pt x="0" y="783771"/>
                  </a:lnTo>
                  <a:lnTo>
                    <a:pt x="261258" y="1113780"/>
                  </a:lnTo>
                  <a:lnTo>
                    <a:pt x="591267" y="1381913"/>
                  </a:lnTo>
                  <a:lnTo>
                    <a:pt x="886900" y="1278785"/>
                  </a:lnTo>
                  <a:lnTo>
                    <a:pt x="666894" y="687519"/>
                  </a:lnTo>
                  <a:lnTo>
                    <a:pt x="797522" y="350634"/>
                  </a:lnTo>
                  <a:lnTo>
                    <a:pt x="770022" y="75627"/>
                  </a:lnTo>
                  <a:lnTo>
                    <a:pt x="515640" y="0"/>
                  </a:lnTo>
                  <a:close/>
                </a:path>
              </a:pathLst>
            </a:custGeom>
            <a:noFill/>
            <a:ln w="317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5C043D61-CF88-B2FB-7F1D-17CC6EDEBB32}"/>
                </a:ext>
              </a:extLst>
            </p:cNvPr>
            <p:cNvSpPr/>
            <p:nvPr/>
          </p:nvSpPr>
          <p:spPr>
            <a:xfrm>
              <a:off x="4232249" y="5641300"/>
              <a:ext cx="1075396" cy="766375"/>
            </a:xfrm>
            <a:custGeom>
              <a:avLst/>
              <a:gdLst>
                <a:gd name="connsiteX0" fmla="*/ 460638 w 1196283"/>
                <a:gd name="connsiteY0" fmla="*/ 0 h 852524"/>
                <a:gd name="connsiteX1" fmla="*/ 61877 w 1196283"/>
                <a:gd name="connsiteY1" fmla="*/ 137504 h 852524"/>
                <a:gd name="connsiteX2" fmla="*/ 0 w 1196283"/>
                <a:gd name="connsiteY2" fmla="*/ 598141 h 852524"/>
                <a:gd name="connsiteX3" fmla="*/ 226882 w 1196283"/>
                <a:gd name="connsiteY3" fmla="*/ 845648 h 852524"/>
                <a:gd name="connsiteX4" fmla="*/ 295633 w 1196283"/>
                <a:gd name="connsiteY4" fmla="*/ 852523 h 852524"/>
                <a:gd name="connsiteX5" fmla="*/ 1196283 w 1196283"/>
                <a:gd name="connsiteY5" fmla="*/ 625642 h 852524"/>
                <a:gd name="connsiteX6" fmla="*/ 990027 w 1196283"/>
                <a:gd name="connsiteY6" fmla="*/ 137504 h 852524"/>
                <a:gd name="connsiteX7" fmla="*/ 460638 w 1196283"/>
                <a:gd name="connsiteY7" fmla="*/ 0 h 852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283" h="852524">
                  <a:moveTo>
                    <a:pt x="460638" y="0"/>
                  </a:moveTo>
                  <a:lnTo>
                    <a:pt x="61877" y="137504"/>
                  </a:lnTo>
                  <a:lnTo>
                    <a:pt x="0" y="598141"/>
                  </a:lnTo>
                  <a:lnTo>
                    <a:pt x="226882" y="845648"/>
                  </a:lnTo>
                  <a:cubicBezTo>
                    <a:pt x="291036" y="852776"/>
                    <a:pt x="268006" y="852523"/>
                    <a:pt x="295633" y="852523"/>
                  </a:cubicBezTo>
                  <a:lnTo>
                    <a:pt x="1196283" y="625642"/>
                  </a:lnTo>
                  <a:lnTo>
                    <a:pt x="990027" y="137504"/>
                  </a:lnTo>
                  <a:lnTo>
                    <a:pt x="460638" y="0"/>
                  </a:lnTo>
                  <a:close/>
                </a:path>
              </a:pathLst>
            </a:cu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AB67446-67BF-F3B0-C234-FDFF7CF8FAE5}"/>
                </a:ext>
              </a:extLst>
            </p:cNvPr>
            <p:cNvSpPr/>
            <p:nvPr/>
          </p:nvSpPr>
          <p:spPr>
            <a:xfrm>
              <a:off x="3014625" y="5776648"/>
              <a:ext cx="574780" cy="686028"/>
            </a:xfrm>
            <a:custGeom>
              <a:avLst/>
              <a:gdLst>
                <a:gd name="connsiteX0" fmla="*/ 13750 w 639392"/>
                <a:gd name="connsiteY0" fmla="*/ 0 h 763146"/>
                <a:gd name="connsiteX1" fmla="*/ 0 w 639392"/>
                <a:gd name="connsiteY1" fmla="*/ 391886 h 763146"/>
                <a:gd name="connsiteX2" fmla="*/ 34376 w 639392"/>
                <a:gd name="connsiteY2" fmla="*/ 639393 h 763146"/>
                <a:gd name="connsiteX3" fmla="*/ 199380 w 639392"/>
                <a:gd name="connsiteY3" fmla="*/ 735645 h 763146"/>
                <a:gd name="connsiteX4" fmla="*/ 618767 w 639392"/>
                <a:gd name="connsiteY4" fmla="*/ 763146 h 763146"/>
                <a:gd name="connsiteX5" fmla="*/ 639392 w 639392"/>
                <a:gd name="connsiteY5" fmla="*/ 618767 h 763146"/>
                <a:gd name="connsiteX6" fmla="*/ 515639 w 639392"/>
                <a:gd name="connsiteY6" fmla="*/ 343760 h 763146"/>
                <a:gd name="connsiteX7" fmla="*/ 302508 w 639392"/>
                <a:gd name="connsiteY7" fmla="*/ 20626 h 763146"/>
                <a:gd name="connsiteX8" fmla="*/ 13750 w 639392"/>
                <a:gd name="connsiteY8" fmla="*/ 0 h 7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9392" h="763146">
                  <a:moveTo>
                    <a:pt x="13750" y="0"/>
                  </a:moveTo>
                  <a:lnTo>
                    <a:pt x="0" y="391886"/>
                  </a:lnTo>
                  <a:lnTo>
                    <a:pt x="34376" y="639393"/>
                  </a:lnTo>
                  <a:lnTo>
                    <a:pt x="199380" y="735645"/>
                  </a:lnTo>
                  <a:lnTo>
                    <a:pt x="618767" y="763146"/>
                  </a:lnTo>
                  <a:lnTo>
                    <a:pt x="639392" y="618767"/>
                  </a:lnTo>
                  <a:lnTo>
                    <a:pt x="515639" y="343760"/>
                  </a:lnTo>
                  <a:lnTo>
                    <a:pt x="302508" y="20626"/>
                  </a:lnTo>
                  <a:lnTo>
                    <a:pt x="13750" y="0"/>
                  </a:lnTo>
                  <a:close/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7F8316A4-BAE2-537C-C7DD-0DB10482A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04" t="13451" r="11638"/>
          <a:stretch>
            <a:fillRect/>
          </a:stretch>
        </p:blipFill>
        <p:spPr>
          <a:xfrm>
            <a:off x="610746" y="2673604"/>
            <a:ext cx="3098800" cy="318734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7AAA5AE0-47DB-7ADA-8838-6B9A369A21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708" r="17782"/>
          <a:stretch>
            <a:fillRect/>
          </a:stretch>
        </p:blipFill>
        <p:spPr>
          <a:xfrm>
            <a:off x="8181092" y="2671471"/>
            <a:ext cx="3149757" cy="3187346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F903C212-147E-68AD-6AD5-D82F84F30C85}"/>
              </a:ext>
            </a:extLst>
          </p:cNvPr>
          <p:cNvSpPr txBox="1"/>
          <p:nvPr/>
        </p:nvSpPr>
        <p:spPr>
          <a:xfrm>
            <a:off x="4531115" y="5955953"/>
            <a:ext cx="2593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K-means clustering</a:t>
            </a:r>
            <a:endParaRPr lang="zh-CN" altLang="en-US" sz="1400" b="1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0986FE2-A60F-3F85-1A36-B748A8FF890D}"/>
              </a:ext>
            </a:extLst>
          </p:cNvPr>
          <p:cNvSpPr txBox="1"/>
          <p:nvPr/>
        </p:nvSpPr>
        <p:spPr>
          <a:xfrm>
            <a:off x="8544492" y="5955952"/>
            <a:ext cx="2593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Create fishnet for each cluster</a:t>
            </a:r>
            <a:endParaRPr lang="zh-CN" altLang="en-US" sz="1400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6C0FF8C-9E8C-4139-5095-40F31D460349}"/>
              </a:ext>
            </a:extLst>
          </p:cNvPr>
          <p:cNvSpPr txBox="1"/>
          <p:nvPr/>
        </p:nvSpPr>
        <p:spPr>
          <a:xfrm>
            <a:off x="935392" y="5949457"/>
            <a:ext cx="2593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Sample distribution</a:t>
            </a:r>
            <a:endParaRPr lang="zh-CN" altLang="en-US" sz="1400" b="1" dirty="0"/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FEE541C2-2E16-98D8-8A1D-E05CA93C4CCC}"/>
              </a:ext>
            </a:extLst>
          </p:cNvPr>
          <p:cNvSpPr/>
          <p:nvPr/>
        </p:nvSpPr>
        <p:spPr>
          <a:xfrm>
            <a:off x="3870731" y="3998813"/>
            <a:ext cx="343759" cy="469435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4BACC932-50B0-FBEF-64B4-2AA343A4A59D}"/>
              </a:ext>
            </a:extLst>
          </p:cNvPr>
          <p:cNvSpPr/>
          <p:nvPr/>
        </p:nvSpPr>
        <p:spPr>
          <a:xfrm>
            <a:off x="7622858" y="3998812"/>
            <a:ext cx="343759" cy="469435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492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7EC0-9413-5023-3F39-4D37B514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4DA825-2FF1-0CA4-A9F6-122ADF6E2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97" y="364310"/>
            <a:ext cx="10728325" cy="474463"/>
          </a:xfrm>
        </p:spPr>
        <p:txBody>
          <a:bodyPr/>
          <a:lstStyle/>
          <a:p>
            <a:r>
              <a:rPr lang="en-US" altLang="zh-CN" dirty="0"/>
              <a:t>Dataset Split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5DBD41-63EF-4537-BBCC-96BEB555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35FE36-6108-9E77-1847-F41A1054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6E804E-6D21-814D-09F0-BE00D173295B}"/>
              </a:ext>
            </a:extLst>
          </p:cNvPr>
          <p:cNvSpPr txBox="1"/>
          <p:nvPr/>
        </p:nvSpPr>
        <p:spPr>
          <a:xfrm>
            <a:off x="610746" y="999183"/>
            <a:ext cx="9647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2.  Solve Integer Linear Programming (ILP) Problem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5EAA49-CC11-E62C-EB4A-08C583DF5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97" y="1511000"/>
            <a:ext cx="6096000" cy="13258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7B34596-1E12-38EB-C8EE-3EEA77E5BF32}"/>
              </a:ext>
            </a:extLst>
          </p:cNvPr>
          <p:cNvSpPr txBox="1"/>
          <p:nvPr/>
        </p:nvSpPr>
        <p:spPr>
          <a:xfrm>
            <a:off x="1133259" y="2890679"/>
            <a:ext cx="4758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Table 1. Distribution matrix of all sample grids</a:t>
            </a:r>
            <a:endParaRPr lang="zh-CN" altLang="en-US" sz="1400" b="1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92C37D6-CE85-5559-E041-0FE77357A844}"/>
              </a:ext>
            </a:extLst>
          </p:cNvPr>
          <p:cNvCxnSpPr>
            <a:cxnSpLocks/>
          </p:cNvCxnSpPr>
          <p:nvPr/>
        </p:nvCxnSpPr>
        <p:spPr>
          <a:xfrm flipH="1" flipV="1">
            <a:off x="6261005" y="2334991"/>
            <a:ext cx="882316" cy="2119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9B9038-255A-B56F-2279-93AD87A69988}"/>
              </a:ext>
            </a:extLst>
          </p:cNvPr>
          <p:cNvSpPr txBox="1"/>
          <p:nvPr/>
        </p:nvSpPr>
        <p:spPr>
          <a:xfrm>
            <a:off x="7066547" y="2440954"/>
            <a:ext cx="2593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Assign each grid to one split</a:t>
            </a:r>
            <a:endParaRPr lang="zh-CN" altLang="en-US" sz="14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9D0A4B7-1BEA-A312-41B4-53378ED09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74" y="3252255"/>
            <a:ext cx="7372092" cy="315288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13ECBC5-C79D-8A4C-C637-CC389BDAB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152" y="4344997"/>
            <a:ext cx="5935670" cy="200400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08634D41-1E31-F811-08E2-1694D180EE2E}"/>
              </a:ext>
            </a:extLst>
          </p:cNvPr>
          <p:cNvSpPr/>
          <p:nvPr/>
        </p:nvSpPr>
        <p:spPr>
          <a:xfrm>
            <a:off x="506874" y="3252255"/>
            <a:ext cx="10900948" cy="3152886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074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32B927-AB4D-2E9C-DC4E-E899934B0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FAC92D-716A-E59E-3E76-E0E73486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F36A0F6-DAC6-B443-201C-4BB4F36EE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957142"/>
              </p:ext>
            </p:extLst>
          </p:nvPr>
        </p:nvGraphicFramePr>
        <p:xfrm>
          <a:off x="1875999" y="455587"/>
          <a:ext cx="8204204" cy="1615440"/>
        </p:xfrm>
        <a:graphic>
          <a:graphicData uri="http://schemas.openxmlformats.org/drawingml/2006/table">
            <a:tbl>
              <a:tblPr/>
              <a:tblGrid>
                <a:gridCol w="1081940">
                  <a:extLst>
                    <a:ext uri="{9D8B030D-6E8A-4147-A177-3AD203B41FA5}">
                      <a16:colId xmlns:a16="http://schemas.microsoft.com/office/drawing/2014/main" val="1120357854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2264901447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829759403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4189322789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3159179399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1279523945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2582780035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2105907823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640467301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2387303867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625792180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1904876735"/>
                    </a:ext>
                  </a:extLst>
                </a:gridCol>
                <a:gridCol w="593522">
                  <a:extLst>
                    <a:ext uri="{9D8B030D-6E8A-4147-A177-3AD203B41FA5}">
                      <a16:colId xmlns:a16="http://schemas.microsoft.com/office/drawing/2014/main" val="3505242260"/>
                    </a:ext>
                  </a:extLst>
                </a:gridCol>
              </a:tblGrid>
              <a:tr h="266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split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TreeAI_ID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778633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51107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train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574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579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1094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9854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646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81171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948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validation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66161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test/train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0.216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0.185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0.167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0.214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286338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EDBCF669-302F-3066-541D-8F447D3D4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99" y="2325408"/>
            <a:ext cx="8199091" cy="406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3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4D817-A9D3-4666-CEE5-8C1D4F64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39AC6-9700-13E2-A184-3CBBD6762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DE6A00-8178-1085-0DD1-C313F0C4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20A8B11-E86F-5A47-2037-1E115E712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774" y="276132"/>
            <a:ext cx="9075918" cy="641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2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1E21FD-7C28-C29B-ADC5-F532BBED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de-CH" noProof="0" smtClean="0"/>
              <a:t>05.11.2025</a:t>
            </a:fld>
            <a:endParaRPr lang="de-CH" noProof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CEE28-C443-27D7-6B68-FAE99C76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0C7D3F2-56DC-E26A-A06E-27E61947D520}"/>
              </a:ext>
            </a:extLst>
          </p:cNvPr>
          <p:cNvSpPr txBox="1"/>
          <p:nvPr/>
        </p:nvSpPr>
        <p:spPr>
          <a:xfrm>
            <a:off x="4836501" y="5659753"/>
            <a:ext cx="1490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CHELSA Climate </a:t>
            </a:r>
            <a:endParaRPr lang="zh-CN" altLang="en-US" sz="1400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359C9D7-E718-C8CD-844B-A65F6A9C346F}"/>
              </a:ext>
            </a:extLst>
          </p:cNvPr>
          <p:cNvGrpSpPr/>
          <p:nvPr/>
        </p:nvGrpSpPr>
        <p:grpSpPr>
          <a:xfrm>
            <a:off x="4962627" y="4363421"/>
            <a:ext cx="1357736" cy="1298191"/>
            <a:chOff x="10283142" y="3693385"/>
            <a:chExt cx="1357736" cy="1298191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E76DC77-8CBA-73E8-A0A0-0F844B61E8AA}"/>
                </a:ext>
              </a:extLst>
            </p:cNvPr>
            <p:cNvGrpSpPr/>
            <p:nvPr/>
          </p:nvGrpSpPr>
          <p:grpSpPr>
            <a:xfrm>
              <a:off x="10408374" y="3693385"/>
              <a:ext cx="1232504" cy="1298191"/>
              <a:chOff x="9403643" y="3737278"/>
              <a:chExt cx="1232504" cy="1298191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2CCAFA-BF4F-AAEB-7445-DDAB34F936ED}"/>
                  </a:ext>
                </a:extLst>
              </p:cNvPr>
              <p:cNvSpPr txBox="1"/>
              <p:nvPr/>
            </p:nvSpPr>
            <p:spPr>
              <a:xfrm>
                <a:off x="9403644" y="3737278"/>
                <a:ext cx="1232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BIO 01</a:t>
                </a:r>
                <a:endParaRPr lang="zh-CN" altLang="en-US" dirty="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C0671C7-EA65-9BCA-612D-128020598C6C}"/>
                  </a:ext>
                </a:extLst>
              </p:cNvPr>
              <p:cNvSpPr txBox="1"/>
              <p:nvPr/>
            </p:nvSpPr>
            <p:spPr>
              <a:xfrm>
                <a:off x="9403644" y="4037054"/>
                <a:ext cx="1232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BIO 02</a:t>
                </a:r>
                <a:endParaRPr lang="zh-CN" altLang="en-US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8BC1998-8326-C20E-01EF-926054BF8C9A}"/>
                  </a:ext>
                </a:extLst>
              </p:cNvPr>
              <p:cNvSpPr txBox="1"/>
              <p:nvPr/>
            </p:nvSpPr>
            <p:spPr>
              <a:xfrm>
                <a:off x="9403644" y="4295394"/>
                <a:ext cx="1232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zh-CN" altLang="en-US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1E0FB7B-0C5A-C44A-5210-F005D9D7E4C6}"/>
                  </a:ext>
                </a:extLst>
              </p:cNvPr>
              <p:cNvSpPr txBox="1"/>
              <p:nvPr/>
            </p:nvSpPr>
            <p:spPr>
              <a:xfrm>
                <a:off x="9403643" y="4666137"/>
                <a:ext cx="12325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BIO19</a:t>
                </a:r>
                <a:endParaRPr lang="zh-CN" altLang="en-US" dirty="0"/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EA72508-6D04-C045-E971-37374046199C}"/>
                </a:ext>
              </a:extLst>
            </p:cNvPr>
            <p:cNvSpPr/>
            <p:nvPr/>
          </p:nvSpPr>
          <p:spPr>
            <a:xfrm>
              <a:off x="10283142" y="3720821"/>
              <a:ext cx="1238327" cy="124594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29B501FA-61C8-77A5-0865-58B5D9D110BF}"/>
              </a:ext>
            </a:extLst>
          </p:cNvPr>
          <p:cNvSpPr txBox="1"/>
          <p:nvPr/>
        </p:nvSpPr>
        <p:spPr>
          <a:xfrm>
            <a:off x="6728515" y="4598371"/>
            <a:ext cx="1876811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EPSG:2056</a:t>
            </a:r>
          </a:p>
          <a:p>
            <a:pPr algn="ctr"/>
            <a:r>
              <a:rPr lang="en-US" altLang="zh-CN" dirty="0"/>
              <a:t>CH1903+/LV95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C1F978E-C056-4005-62C5-6EAAD3EDC5DC}"/>
              </a:ext>
            </a:extLst>
          </p:cNvPr>
          <p:cNvSpPr txBox="1"/>
          <p:nvPr/>
        </p:nvSpPr>
        <p:spPr>
          <a:xfrm>
            <a:off x="6921631" y="5290869"/>
            <a:ext cx="1490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CRS</a:t>
            </a:r>
            <a:endParaRPr lang="zh-CN" altLang="en-US" sz="1400" dirty="0"/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EB8577BF-AFEC-3A47-97FE-04A39D094B2D}"/>
              </a:ext>
            </a:extLst>
          </p:cNvPr>
          <p:cNvGrpSpPr/>
          <p:nvPr/>
        </p:nvGrpSpPr>
        <p:grpSpPr>
          <a:xfrm>
            <a:off x="4590188" y="589980"/>
            <a:ext cx="6963231" cy="3613215"/>
            <a:chOff x="4397683" y="639730"/>
            <a:chExt cx="6963231" cy="3613215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3315BDE3-1E4C-4371-E3F5-0E9543227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42987" y="2457039"/>
              <a:ext cx="1238326" cy="1236379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4083498D-EDE1-1077-E061-940B69E653A6}"/>
                </a:ext>
              </a:extLst>
            </p:cNvPr>
            <p:cNvGrpSpPr/>
            <p:nvPr/>
          </p:nvGrpSpPr>
          <p:grpSpPr>
            <a:xfrm>
              <a:off x="6457109" y="2358114"/>
              <a:ext cx="1346011" cy="1357287"/>
              <a:chOff x="6425505" y="1154813"/>
              <a:chExt cx="1346011" cy="1357287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23339F06-F96A-17DF-EBFC-565060DC77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9013" y="1154813"/>
                <a:ext cx="1232503" cy="1236379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</p:pic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3AC48929-357F-466F-1C06-1352E2054B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25505" y="1275721"/>
                <a:ext cx="1232503" cy="1236379"/>
              </a:xfrm>
              <a:prstGeom prst="rect">
                <a:avLst/>
              </a:prstGeom>
              <a:ln w="25400">
                <a:solidFill>
                  <a:schemeClr val="tx1"/>
                </a:solidFill>
              </a:ln>
            </p:spPr>
          </p:pic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F0161C7-4B0F-8F35-DDF7-D9DE1440EF25}"/>
                </a:ext>
              </a:extLst>
            </p:cNvPr>
            <p:cNvSpPr txBox="1"/>
            <p:nvPr/>
          </p:nvSpPr>
          <p:spPr>
            <a:xfrm>
              <a:off x="4904069" y="3729725"/>
              <a:ext cx="13772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Satellite Embedding</a:t>
              </a:r>
              <a:endParaRPr lang="zh-CN" altLang="en-US" sz="14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40003F8-53E0-3E16-E0BD-3E3333B93D8A}"/>
                </a:ext>
              </a:extLst>
            </p:cNvPr>
            <p:cNvSpPr txBox="1"/>
            <p:nvPr/>
          </p:nvSpPr>
          <p:spPr>
            <a:xfrm>
              <a:off x="6353334" y="3756280"/>
              <a:ext cx="14905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Sentinel 1-TS</a:t>
              </a:r>
              <a:endParaRPr lang="zh-CN" altLang="en-US" sz="1400" dirty="0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9091E1C3-2104-D8D4-6C3C-5EAC62EDF053}"/>
                </a:ext>
              </a:extLst>
            </p:cNvPr>
            <p:cNvGrpSpPr/>
            <p:nvPr/>
          </p:nvGrpSpPr>
          <p:grpSpPr>
            <a:xfrm>
              <a:off x="7941309" y="2359675"/>
              <a:ext cx="1353122" cy="1364372"/>
              <a:chOff x="5877128" y="647405"/>
              <a:chExt cx="1353122" cy="1364372"/>
            </a:xfrm>
          </p:grpSpPr>
          <p:pic>
            <p:nvPicPr>
              <p:cNvPr id="38" name="图片 37">
                <a:extLst>
                  <a:ext uri="{FF2B5EF4-FFF2-40B4-BE49-F238E27FC236}">
                    <a16:creationId xmlns:a16="http://schemas.microsoft.com/office/drawing/2014/main" id="{9FA2886F-8B9A-7603-56D4-81ADC61D1D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89971" y="647405"/>
                <a:ext cx="1240279" cy="1236379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365674BE-D920-3832-1FA4-D00064A06C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77128" y="771498"/>
                <a:ext cx="1240279" cy="1240279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99CC75F-AE15-85F0-3696-92EBB4463763}"/>
                </a:ext>
              </a:extLst>
            </p:cNvPr>
            <p:cNvSpPr txBox="1"/>
            <p:nvPr/>
          </p:nvSpPr>
          <p:spPr>
            <a:xfrm>
              <a:off x="7866205" y="3756280"/>
              <a:ext cx="14905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Sentine2 1-TS</a:t>
              </a:r>
              <a:endParaRPr lang="zh-CN" altLang="en-US" sz="1400" dirty="0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6550126-1616-14C6-3843-FE2334446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83253" y="639730"/>
              <a:ext cx="1236380" cy="123638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5B6C2BF-504D-CA20-08BC-4930B03675AD}"/>
                </a:ext>
              </a:extLst>
            </p:cNvPr>
            <p:cNvSpPr txBox="1"/>
            <p:nvPr/>
          </p:nvSpPr>
          <p:spPr>
            <a:xfrm>
              <a:off x="8412821" y="1903402"/>
              <a:ext cx="13772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DSM</a:t>
              </a:r>
              <a:endParaRPr lang="zh-CN" altLang="en-US" sz="1400" dirty="0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89A34FC-CED1-D59F-714C-4BD9B9BA3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25726" y="639730"/>
              <a:ext cx="1234424" cy="123638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42D1D9E-0E53-D2B8-A864-14C3B8DD7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27726" y="647360"/>
              <a:ext cx="1234424" cy="1238318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87F3A40D-9FBC-A8C0-CC74-D46320E0D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74927" y="647360"/>
              <a:ext cx="1238327" cy="123638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9477E87-960C-B5E8-E61B-D6664EF4BFAE}"/>
                </a:ext>
              </a:extLst>
            </p:cNvPr>
            <p:cNvSpPr txBox="1"/>
            <p:nvPr/>
          </p:nvSpPr>
          <p:spPr>
            <a:xfrm>
              <a:off x="4397683" y="1883740"/>
              <a:ext cx="13772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image</a:t>
              </a:r>
              <a:endParaRPr lang="zh-CN" altLang="en-US" sz="1400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B83622A-373C-6D17-CC04-0097FD462C88}"/>
                </a:ext>
              </a:extLst>
            </p:cNvPr>
            <p:cNvSpPr txBox="1"/>
            <p:nvPr/>
          </p:nvSpPr>
          <p:spPr>
            <a:xfrm>
              <a:off x="5662150" y="1883740"/>
              <a:ext cx="13772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VHM</a:t>
              </a:r>
              <a:endParaRPr lang="zh-CN" altLang="en-US" sz="14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F850625-100A-CE5E-31E2-BF543BDEE2DC}"/>
                </a:ext>
              </a:extLst>
            </p:cNvPr>
            <p:cNvSpPr txBox="1"/>
            <p:nvPr/>
          </p:nvSpPr>
          <p:spPr>
            <a:xfrm>
              <a:off x="7009351" y="1901463"/>
              <a:ext cx="13772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DEM</a:t>
              </a:r>
              <a:endParaRPr lang="zh-CN" altLang="en-US" sz="1400" dirty="0"/>
            </a:p>
          </p:txBody>
        </p: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57A39248-E125-61ED-4DDB-ED7FB67F0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966805" y="736148"/>
              <a:ext cx="1394109" cy="534523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0784E2F4-CB2A-3A82-DAD8-08E0BFEA7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427150" y="1442906"/>
              <a:ext cx="487572" cy="534523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EF2B46AE-1B33-8F39-03E5-AA44207D9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966805" y="2881218"/>
              <a:ext cx="657162" cy="623616"/>
            </a:xfrm>
            <a:prstGeom prst="rect">
              <a:avLst/>
            </a:prstGeom>
          </p:spPr>
        </p:pic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65E4131B-D129-133A-BD82-2CC1F027CD29}"/>
              </a:ext>
            </a:extLst>
          </p:cNvPr>
          <p:cNvGrpSpPr/>
          <p:nvPr/>
        </p:nvGrpSpPr>
        <p:grpSpPr>
          <a:xfrm>
            <a:off x="38862" y="2997391"/>
            <a:ext cx="1490578" cy="1470281"/>
            <a:chOff x="8279796" y="2817497"/>
            <a:chExt cx="1490578" cy="1470281"/>
          </a:xfrm>
        </p:grpSpPr>
        <p:pic>
          <p:nvPicPr>
            <p:cNvPr id="65" name="图形 64" descr="数据库 纯色填充">
              <a:extLst>
                <a:ext uri="{FF2B5EF4-FFF2-40B4-BE49-F238E27FC236}">
                  <a16:creationId xmlns:a16="http://schemas.microsoft.com/office/drawing/2014/main" id="{3D62C079-EFB9-9034-095C-953A8026F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415669" y="2817497"/>
              <a:ext cx="1218832" cy="1218832"/>
            </a:xfrm>
            <a:prstGeom prst="rect">
              <a:avLst/>
            </a:prstGeom>
          </p:spPr>
        </p:pic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8F69344-60BC-1652-33F3-3BD3FA7DE1AA}"/>
                </a:ext>
              </a:extLst>
            </p:cNvPr>
            <p:cNvSpPr txBox="1"/>
            <p:nvPr/>
          </p:nvSpPr>
          <p:spPr>
            <a:xfrm>
              <a:off x="8279796" y="3980001"/>
              <a:ext cx="14905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HDF5 File</a:t>
              </a:r>
              <a:endParaRPr lang="zh-CN" altLang="en-US" sz="1400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A55AB48-B2D5-6D97-EBC3-E723EF629BAC}"/>
              </a:ext>
            </a:extLst>
          </p:cNvPr>
          <p:cNvGrpSpPr/>
          <p:nvPr/>
        </p:nvGrpSpPr>
        <p:grpSpPr>
          <a:xfrm>
            <a:off x="1957076" y="1846847"/>
            <a:ext cx="1150807" cy="1027704"/>
            <a:chOff x="1957076" y="1846847"/>
            <a:chExt cx="1150807" cy="1027704"/>
          </a:xfrm>
        </p:grpSpPr>
        <p:pic>
          <p:nvPicPr>
            <p:cNvPr id="70" name="图形 69">
              <a:extLst>
                <a:ext uri="{FF2B5EF4-FFF2-40B4-BE49-F238E27FC236}">
                  <a16:creationId xmlns:a16="http://schemas.microsoft.com/office/drawing/2014/main" id="{EA41F412-9666-5E85-7C26-0FDFA6AC498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957076" y="1846847"/>
              <a:ext cx="1150807" cy="1027704"/>
            </a:xfrm>
            <a:prstGeom prst="rect">
              <a:avLst/>
            </a:prstGeom>
          </p:spPr>
        </p:pic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BA5EA1D-90E4-EBC7-0F09-38A9EE01982D}"/>
                </a:ext>
              </a:extLst>
            </p:cNvPr>
            <p:cNvSpPr txBox="1"/>
            <p:nvPr/>
          </p:nvSpPr>
          <p:spPr>
            <a:xfrm>
              <a:off x="2126696" y="2211825"/>
              <a:ext cx="901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3"/>
                  </a:solidFill>
                </a:rPr>
                <a:t>group</a:t>
              </a:r>
              <a:endParaRPr lang="zh-CN" altLang="en-US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A92F94E-5328-A265-AA76-2B40886F8ABE}"/>
              </a:ext>
            </a:extLst>
          </p:cNvPr>
          <p:cNvGrpSpPr/>
          <p:nvPr/>
        </p:nvGrpSpPr>
        <p:grpSpPr>
          <a:xfrm>
            <a:off x="1957076" y="4325222"/>
            <a:ext cx="1150807" cy="1027704"/>
            <a:chOff x="1957076" y="1846847"/>
            <a:chExt cx="1150807" cy="1027704"/>
          </a:xfrm>
        </p:grpSpPr>
        <p:pic>
          <p:nvPicPr>
            <p:cNvPr id="76" name="图形 75">
              <a:extLst>
                <a:ext uri="{FF2B5EF4-FFF2-40B4-BE49-F238E27FC236}">
                  <a16:creationId xmlns:a16="http://schemas.microsoft.com/office/drawing/2014/main" id="{E8F173A8-84EA-A948-03A4-DC82E13493F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957076" y="1846847"/>
              <a:ext cx="1150807" cy="1027704"/>
            </a:xfrm>
            <a:prstGeom prst="rect">
              <a:avLst/>
            </a:prstGeom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0EB5FDE8-EF92-F4B2-9E47-F5DF4067B5D6}"/>
                </a:ext>
              </a:extLst>
            </p:cNvPr>
            <p:cNvSpPr txBox="1"/>
            <p:nvPr/>
          </p:nvSpPr>
          <p:spPr>
            <a:xfrm>
              <a:off x="2126696" y="2211825"/>
              <a:ext cx="901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3"/>
                  </a:solidFill>
                </a:rPr>
                <a:t>group</a:t>
              </a:r>
              <a:endParaRPr lang="zh-CN" altLang="en-US" b="1" dirty="0">
                <a:solidFill>
                  <a:schemeClr val="accent3"/>
                </a:solidFill>
              </a:endParaRPr>
            </a:p>
          </p:txBody>
        </p:sp>
      </p:grp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EA4FDA78-9A18-ACC1-FED0-9B1049BAD7A5}"/>
              </a:ext>
            </a:extLst>
          </p:cNvPr>
          <p:cNvCxnSpPr/>
          <p:nvPr/>
        </p:nvCxnSpPr>
        <p:spPr>
          <a:xfrm flipV="1">
            <a:off x="1333786" y="2481607"/>
            <a:ext cx="501889" cy="8528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66E247F-96D8-03DE-3FD3-5B12B3941A2F}"/>
              </a:ext>
            </a:extLst>
          </p:cNvPr>
          <p:cNvCxnSpPr>
            <a:cxnSpLocks/>
          </p:cNvCxnSpPr>
          <p:nvPr/>
        </p:nvCxnSpPr>
        <p:spPr>
          <a:xfrm>
            <a:off x="1311493" y="3726632"/>
            <a:ext cx="463098" cy="10231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DA81CD84-1A4D-7339-493E-5A3D28AC1D10}"/>
              </a:ext>
            </a:extLst>
          </p:cNvPr>
          <p:cNvCxnSpPr>
            <a:cxnSpLocks/>
          </p:cNvCxnSpPr>
          <p:nvPr/>
        </p:nvCxnSpPr>
        <p:spPr>
          <a:xfrm>
            <a:off x="3403218" y="4927941"/>
            <a:ext cx="110317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548CE5C5-0E25-B33C-618A-6C7A4D8DB1C2}"/>
              </a:ext>
            </a:extLst>
          </p:cNvPr>
          <p:cNvCxnSpPr>
            <a:cxnSpLocks/>
          </p:cNvCxnSpPr>
          <p:nvPr/>
        </p:nvCxnSpPr>
        <p:spPr>
          <a:xfrm>
            <a:off x="3324549" y="2364914"/>
            <a:ext cx="110317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2302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2" id="{1321EF9B-D0C2-B940-BAF0-923936C95B7C}" vid="{0165591E-D8AE-AE49-AAAE-F458C46D785B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eth_pp_praesentation_mit_klassifizierung</Template>
  <TotalTime>1240</TotalTime>
  <Words>184</Words>
  <Application>Microsoft Office PowerPoint</Application>
  <PresentationFormat>宽屏</PresentationFormat>
  <Paragraphs>109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Arial</vt:lpstr>
      <vt:lpstr>Symbol</vt:lpstr>
      <vt:lpstr>ETH Zürich</vt:lpstr>
      <vt:lpstr>Dataset Split</vt:lpstr>
      <vt:lpstr>Dataset Split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Data Acquisition Lab 2 - Group 4</dc:title>
  <dc:creator>亦鑫 周</dc:creator>
  <cp:lastModifiedBy>Yixin Zhou</cp:lastModifiedBy>
  <cp:revision>42</cp:revision>
  <dcterms:created xsi:type="dcterms:W3CDTF">2023-11-02T08:52:57Z</dcterms:created>
  <dcterms:modified xsi:type="dcterms:W3CDTF">2025-11-05T22:36:32Z</dcterms:modified>
</cp:coreProperties>
</file>