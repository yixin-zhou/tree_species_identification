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12"/>
    <p:restoredTop sz="94128"/>
  </p:normalViewPr>
  <p:slideViewPr>
    <p:cSldViewPr snapToGrid="0">
      <p:cViewPr varScale="1">
        <p:scale>
          <a:sx n="85" d="100"/>
          <a:sy n="85" d="100"/>
        </p:scale>
        <p:origin x="17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FE477-52EA-5EE1-386C-848751E12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BC609-4939-0307-F3B6-F2DBB55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86A04-0C5E-6EFF-8DEC-6F0F8A8F4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6BCCC-8B31-C858-5F30-3128F35D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9E09D-CEA5-0DBF-C065-3971B8D8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8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4871-BD62-B4F2-A522-8E54B846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0971-6A35-036B-5E05-25FBFF9BF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001A6-3F12-38FF-E65D-5FB9209D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C1EA6-FF7E-4FED-FD5A-BA02373E3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EDFE5-8261-D6B0-C466-EB7A7DED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6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001E-967D-3BD6-DC87-B11E586D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F0CA-1440-544A-D896-94CC81F5C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AD1F1-1586-CEEA-3870-05941617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353FA-0AFC-52D9-5D9F-519F449C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AF44C-4D0B-A196-D1D6-922C20560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85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D3C4B-61F9-909D-7EFF-8C76FC5C2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4E72-E22E-B322-B44B-F7BE40F0D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4879C-4594-441D-E0C1-CD343A70C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8297A-C0CB-BED8-F531-5B3F494F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636CA-9210-C3BA-4747-FA087BB7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306A5-C635-921F-F6BF-9D518B50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2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C7608-DB77-D7C7-963E-7275BE47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6687B-6FE5-661F-FF82-77D7157E7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5F53F-08D0-415C-8254-5A12E025D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E9D80F-2646-15C3-6394-94909F315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F29AB1-7AA3-4204-A9DA-6DF6F87EE9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10C484-F92D-CA24-D17B-6137CA0F5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A1C11E-7D27-DE03-9E4C-566532DF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5609E-B896-BE8F-E830-B866DB08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0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8AC0-B8BE-E6A3-E925-F5C28456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CE4EA-E2CF-6AB1-A029-CDF2AEA7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59851-BD4D-C26A-7610-ED04DD4A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BB4DA-210B-4367-E131-045F3EC3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8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3DE40-FCB2-2F23-518C-8D3D2BF7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953CC-D267-91D9-8DEC-F03E5020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21328-CED7-4326-0F16-80CBEF89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8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DF886-B19C-E5A1-D10C-B6338BF94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5AADE-9CDF-3B9C-C464-5984E5211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0EEBB-01B5-28E3-9926-D78598373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2BA1C-7FE3-7651-0C23-C04A902E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EE5AC-BE29-DAB4-7F64-6F5C4678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BBCA5-BC66-7432-075E-C62866AD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1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FB7BD-0242-3535-1909-244F39095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44F33-C04B-FABB-A07B-E99E7CFD4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49860-58ED-FDAE-3A73-94686318D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E3A8E-76A8-754F-47DA-0E5003BC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0BF03-56AB-9001-7969-9A88E57B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7094-7483-6F83-A7B4-DB3899DC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3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0BF7-26D1-0745-F379-D7DFF279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24089-F903-1CEA-1727-6EC145F2B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D1D84-AEF8-F680-D088-8FBB69DC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9ADFE-4D57-9925-117E-0C842F2A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41DF2-42FF-A676-9FB4-49F4A8DE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64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470BA-60C5-24B3-D2C7-9A6C83B96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06911-DDA4-0E84-B825-ECAA628A7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1E2F1-1C83-1E81-1FFA-055A589C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4DADC-221E-EE5C-D32D-A490B3ED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9D0F1-2E62-448A-09CE-156C900D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1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6EF94F-6FB6-3401-6F30-592A6D806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9C455-5DCD-93F5-8BCD-5A608CF56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381BA-5759-BE7C-1F1E-2B70AA37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248ED1-B262-0E49-B5E0-D96FD0C9233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0259B-8438-1BB3-D22E-A561E0118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C65AF-657D-69A9-ADBA-CF202F744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D50E0-459F-0548-BBF7-88B40B18C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40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21" Type="http://schemas.openxmlformats.org/officeDocument/2006/relationships/image" Target="../media/image19.png"/><Relationship Id="rId7" Type="http://schemas.openxmlformats.org/officeDocument/2006/relationships/image" Target="../media/image6.png"/><Relationship Id="rId12" Type="http://schemas.microsoft.com/office/2007/relationships/hdphoto" Target="../media/hdphoto1.wdp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373DDE1-8E5B-B7EB-9C1B-68B1BCB2C256}"/>
              </a:ext>
            </a:extLst>
          </p:cNvPr>
          <p:cNvGrpSpPr/>
          <p:nvPr/>
        </p:nvGrpSpPr>
        <p:grpSpPr>
          <a:xfrm>
            <a:off x="179916" y="390063"/>
            <a:ext cx="11337653" cy="6781203"/>
            <a:chOff x="0" y="76797"/>
            <a:chExt cx="11337653" cy="678120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04B78ED-EA1F-7604-DDC4-605660F26F4A}"/>
                </a:ext>
              </a:extLst>
            </p:cNvPr>
            <p:cNvGrpSpPr/>
            <p:nvPr/>
          </p:nvGrpSpPr>
          <p:grpSpPr>
            <a:xfrm>
              <a:off x="48360" y="2546392"/>
              <a:ext cx="1328947" cy="1194343"/>
              <a:chOff x="8094421" y="989751"/>
              <a:chExt cx="2139491" cy="1922791"/>
            </a:xfrm>
          </p:grpSpPr>
          <p:grpSp>
            <p:nvGrpSpPr>
              <p:cNvPr id="6" name="Google Shape;218;p5">
                <a:extLst>
                  <a:ext uri="{FF2B5EF4-FFF2-40B4-BE49-F238E27FC236}">
                    <a16:creationId xmlns:a16="http://schemas.microsoft.com/office/drawing/2014/main" id="{B0F302A3-6272-705A-FCEF-2A49A09FE8F4}"/>
                  </a:ext>
                </a:extLst>
              </p:cNvPr>
              <p:cNvGrpSpPr/>
              <p:nvPr/>
            </p:nvGrpSpPr>
            <p:grpSpPr>
              <a:xfrm>
                <a:off x="8546148" y="989751"/>
                <a:ext cx="1346011" cy="1357287"/>
                <a:chOff x="6425505" y="1154813"/>
                <a:chExt cx="1346011" cy="1357287"/>
              </a:xfrm>
            </p:grpSpPr>
            <p:pic>
              <p:nvPicPr>
                <p:cNvPr id="24" name="Google Shape;219;p5">
                  <a:extLst>
                    <a:ext uri="{FF2B5EF4-FFF2-40B4-BE49-F238E27FC236}">
                      <a16:creationId xmlns:a16="http://schemas.microsoft.com/office/drawing/2014/main" id="{9F83BF9C-E0AE-2192-9061-349A5634A600}"/>
                    </a:ext>
                  </a:extLst>
                </p:cNvPr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/>
                <a:stretch/>
              </p:blipFill>
              <p:spPr>
                <a:xfrm>
                  <a:off x="6539013" y="1154813"/>
                  <a:ext cx="1232503" cy="1236379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pic>
            <p:pic>
              <p:nvPicPr>
                <p:cNvPr id="25" name="Google Shape;220;p5">
                  <a:extLst>
                    <a:ext uri="{FF2B5EF4-FFF2-40B4-BE49-F238E27FC236}">
                      <a16:creationId xmlns:a16="http://schemas.microsoft.com/office/drawing/2014/main" id="{776B9E0A-23C9-3868-D786-EBF619C7BEB5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25505" y="1275721"/>
                  <a:ext cx="1232503" cy="1236379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pic>
          </p:grpSp>
          <p:sp>
            <p:nvSpPr>
              <p:cNvPr id="8" name="Google Shape;222;p5">
                <a:extLst>
                  <a:ext uri="{FF2B5EF4-FFF2-40B4-BE49-F238E27FC236}">
                    <a16:creationId xmlns:a16="http://schemas.microsoft.com/office/drawing/2014/main" id="{84C0B3CA-FF3A-936C-3AC0-59009C0C84C2}"/>
                  </a:ext>
                </a:extLst>
              </p:cNvPr>
              <p:cNvSpPr txBox="1"/>
              <p:nvPr/>
            </p:nvSpPr>
            <p:spPr>
              <a:xfrm>
                <a:off x="8094421" y="2417113"/>
                <a:ext cx="2139491" cy="49542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Sentinel 1-TS</a:t>
                </a:r>
                <a:endParaRPr sz="14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BDFBAC6-AA3C-CB43-937C-EFD262278A5E}"/>
                </a:ext>
              </a:extLst>
            </p:cNvPr>
            <p:cNvGrpSpPr/>
            <p:nvPr/>
          </p:nvGrpSpPr>
          <p:grpSpPr>
            <a:xfrm>
              <a:off x="0" y="76797"/>
              <a:ext cx="1325139" cy="1108192"/>
              <a:chOff x="368171" y="1088676"/>
              <a:chExt cx="2084902" cy="1743569"/>
            </a:xfrm>
          </p:grpSpPr>
          <p:pic>
            <p:nvPicPr>
              <p:cNvPr id="14" name="Google Shape;230;p5">
                <a:extLst>
                  <a:ext uri="{FF2B5EF4-FFF2-40B4-BE49-F238E27FC236}">
                    <a16:creationId xmlns:a16="http://schemas.microsoft.com/office/drawing/2014/main" id="{CC2A325A-FC6B-926D-67D7-6FEAC37DD694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11831" y="1088676"/>
                <a:ext cx="1234424" cy="1238318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16" name="Google Shape;232;p5">
                <a:extLst>
                  <a:ext uri="{FF2B5EF4-FFF2-40B4-BE49-F238E27FC236}">
                    <a16:creationId xmlns:a16="http://schemas.microsoft.com/office/drawing/2014/main" id="{7D4427A2-0BA2-03D7-FD88-464AB75882F8}"/>
                  </a:ext>
                </a:extLst>
              </p:cNvPr>
              <p:cNvSpPr txBox="1"/>
              <p:nvPr/>
            </p:nvSpPr>
            <p:spPr>
              <a:xfrm>
                <a:off x="368171" y="2348070"/>
                <a:ext cx="2084902" cy="4841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UAV </a:t>
                </a:r>
                <a:r>
                  <a:rPr lang="en-US" sz="14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Image</a:t>
                </a:r>
                <a:endParaRPr sz="12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6568423-3E1A-A1F8-7960-C9F42331ED7B}"/>
                </a:ext>
              </a:extLst>
            </p:cNvPr>
            <p:cNvSpPr txBox="1"/>
            <p:nvPr/>
          </p:nvSpPr>
          <p:spPr>
            <a:xfrm>
              <a:off x="46523" y="1060209"/>
              <a:ext cx="22600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H × W @0.1m/</a:t>
              </a:r>
              <a:r>
                <a:rPr lang="en-US" sz="1400" i="1" dirty="0" err="1"/>
                <a:t>px</a:t>
              </a:r>
              <a:r>
                <a:rPr lang="en-US" sz="1400" i="1" dirty="0"/>
                <a:t> 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02C21AD-0B97-5B56-421E-85C747700DE4}"/>
                </a:ext>
              </a:extLst>
            </p:cNvPr>
            <p:cNvGrpSpPr/>
            <p:nvPr/>
          </p:nvGrpSpPr>
          <p:grpSpPr>
            <a:xfrm>
              <a:off x="10049419" y="5454703"/>
              <a:ext cx="1288234" cy="1359610"/>
              <a:chOff x="6856170" y="1088676"/>
              <a:chExt cx="1851359" cy="1890325"/>
            </a:xfrm>
          </p:grpSpPr>
          <p:pic>
            <p:nvPicPr>
              <p:cNvPr id="5" name="Google Shape;217;p5">
                <a:extLst>
                  <a:ext uri="{FF2B5EF4-FFF2-40B4-BE49-F238E27FC236}">
                    <a16:creationId xmlns:a16="http://schemas.microsoft.com/office/drawing/2014/main" id="{902C18C0-BB0C-0B18-FAB6-A3CE11B9BC71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7132026" y="1088676"/>
                <a:ext cx="1238326" cy="1236379"/>
              </a:xfrm>
              <a:prstGeom prst="rect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7" name="Google Shape;221;p5">
                <a:extLst>
                  <a:ext uri="{FF2B5EF4-FFF2-40B4-BE49-F238E27FC236}">
                    <a16:creationId xmlns:a16="http://schemas.microsoft.com/office/drawing/2014/main" id="{E8E72912-D442-8C7F-0F8A-11502C2F7A68}"/>
                  </a:ext>
                </a:extLst>
              </p:cNvPr>
              <p:cNvSpPr txBox="1"/>
              <p:nvPr/>
            </p:nvSpPr>
            <p:spPr>
              <a:xfrm>
                <a:off x="6856170" y="2337185"/>
                <a:ext cx="1851359" cy="6418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Google Satellite Embedding</a:t>
                </a:r>
                <a:endParaRPr sz="12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E6C589B-62D8-CDAB-B183-D872CD2BCF59}"/>
                </a:ext>
              </a:extLst>
            </p:cNvPr>
            <p:cNvGrpSpPr/>
            <p:nvPr/>
          </p:nvGrpSpPr>
          <p:grpSpPr>
            <a:xfrm>
              <a:off x="114187" y="1357967"/>
              <a:ext cx="1328947" cy="1162632"/>
              <a:chOff x="445190" y="2471110"/>
              <a:chExt cx="1490578" cy="1304035"/>
            </a:xfrm>
          </p:grpSpPr>
          <p:grpSp>
            <p:nvGrpSpPr>
              <p:cNvPr id="9" name="Google Shape;223;p5">
                <a:extLst>
                  <a:ext uri="{FF2B5EF4-FFF2-40B4-BE49-F238E27FC236}">
                    <a16:creationId xmlns:a16="http://schemas.microsoft.com/office/drawing/2014/main" id="{1B267A85-7342-AEC7-60D2-DF9B60FB080F}"/>
                  </a:ext>
                </a:extLst>
              </p:cNvPr>
              <p:cNvGrpSpPr/>
              <p:nvPr/>
            </p:nvGrpSpPr>
            <p:grpSpPr>
              <a:xfrm>
                <a:off x="733136" y="2471110"/>
                <a:ext cx="914685" cy="922290"/>
                <a:chOff x="5877128" y="647405"/>
                <a:chExt cx="1353122" cy="1364372"/>
              </a:xfrm>
            </p:grpSpPr>
            <p:pic>
              <p:nvPicPr>
                <p:cNvPr id="22" name="Google Shape;224;p5">
                  <a:extLst>
                    <a:ext uri="{FF2B5EF4-FFF2-40B4-BE49-F238E27FC236}">
                      <a16:creationId xmlns:a16="http://schemas.microsoft.com/office/drawing/2014/main" id="{D0BDBD52-73FA-330D-6A1A-FE4799B6299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5989971" y="647405"/>
                  <a:ext cx="1240279" cy="1236379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pic>
            <p:pic>
              <p:nvPicPr>
                <p:cNvPr id="23" name="Google Shape;225;p5">
                  <a:extLst>
                    <a:ext uri="{FF2B5EF4-FFF2-40B4-BE49-F238E27FC236}">
                      <a16:creationId xmlns:a16="http://schemas.microsoft.com/office/drawing/2014/main" id="{A2498D87-FA20-926A-292E-59D509A1354A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5877128" y="771498"/>
                  <a:ext cx="1240279" cy="1240279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pic>
          </p:grpSp>
          <p:sp>
            <p:nvSpPr>
              <p:cNvPr id="10" name="Google Shape;226;p5">
                <a:extLst>
                  <a:ext uri="{FF2B5EF4-FFF2-40B4-BE49-F238E27FC236}">
                    <a16:creationId xmlns:a16="http://schemas.microsoft.com/office/drawing/2014/main" id="{A489289E-D1A8-FF6A-7567-20D0681EE987}"/>
                  </a:ext>
                </a:extLst>
              </p:cNvPr>
              <p:cNvSpPr txBox="1"/>
              <p:nvPr/>
            </p:nvSpPr>
            <p:spPr>
              <a:xfrm>
                <a:off x="445190" y="3429981"/>
                <a:ext cx="1490578" cy="3451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Sentinel 2</a:t>
                </a:r>
                <a:r>
                  <a:rPr lang="en-US" sz="1400" dirty="0">
                    <a:solidFill>
                      <a:schemeClr val="dk1"/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  <a:sym typeface="Arial"/>
                  </a:rPr>
                  <a:t>-TS</a:t>
                </a:r>
                <a:endParaRPr sz="1400" dirty="0">
                  <a:solidFill>
                    <a:schemeClr val="dk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ABFDA2B-F68A-C9B7-F460-1851552A618E}"/>
                </a:ext>
              </a:extLst>
            </p:cNvPr>
            <p:cNvGrpSpPr/>
            <p:nvPr/>
          </p:nvGrpSpPr>
          <p:grpSpPr>
            <a:xfrm>
              <a:off x="312099" y="4999822"/>
              <a:ext cx="877094" cy="968121"/>
              <a:chOff x="4896926" y="1081046"/>
              <a:chExt cx="1377244" cy="1571449"/>
            </a:xfrm>
          </p:grpSpPr>
          <p:pic>
            <p:nvPicPr>
              <p:cNvPr id="11" name="Google Shape;227;p5">
                <a:extLst>
                  <a:ext uri="{FF2B5EF4-FFF2-40B4-BE49-F238E27FC236}">
                    <a16:creationId xmlns:a16="http://schemas.microsoft.com/office/drawing/2014/main" id="{9466F520-AAD8-1AB8-06C7-86E6E33BAE7B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4967358" y="1081046"/>
                <a:ext cx="1236380" cy="123638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12" name="Google Shape;228;p5">
                <a:extLst>
                  <a:ext uri="{FF2B5EF4-FFF2-40B4-BE49-F238E27FC236}">
                    <a16:creationId xmlns:a16="http://schemas.microsoft.com/office/drawing/2014/main" id="{9F846BB7-9348-70F7-E50C-FE135A398C34}"/>
                  </a:ext>
                </a:extLst>
              </p:cNvPr>
              <p:cNvSpPr txBox="1"/>
              <p:nvPr/>
            </p:nvSpPr>
            <p:spPr>
              <a:xfrm>
                <a:off x="4896926" y="2344718"/>
                <a:ext cx="1377244" cy="3077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DSM</a:t>
                </a:r>
                <a:endParaRPr sz="14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B4A1A03-2DDA-5E97-2835-39C681DAB4A9}"/>
                </a:ext>
              </a:extLst>
            </p:cNvPr>
            <p:cNvGrpSpPr/>
            <p:nvPr/>
          </p:nvGrpSpPr>
          <p:grpSpPr>
            <a:xfrm>
              <a:off x="2080195" y="4330671"/>
              <a:ext cx="925441" cy="1142327"/>
              <a:chOff x="2146255" y="1088676"/>
              <a:chExt cx="1377244" cy="1544157"/>
            </a:xfrm>
          </p:grpSpPr>
          <p:pic>
            <p:nvPicPr>
              <p:cNvPr id="15" name="Google Shape;231;p5">
                <a:extLst>
                  <a:ext uri="{FF2B5EF4-FFF2-40B4-BE49-F238E27FC236}">
                    <a16:creationId xmlns:a16="http://schemas.microsoft.com/office/drawing/2014/main" id="{0D2DFCF4-7567-F104-5981-DFA3E8E1716A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259032" y="1088676"/>
                <a:ext cx="1238327" cy="1236380"/>
              </a:xfrm>
              <a:prstGeom prst="rect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17" name="Google Shape;233;p5">
                <a:extLst>
                  <a:ext uri="{FF2B5EF4-FFF2-40B4-BE49-F238E27FC236}">
                    <a16:creationId xmlns:a16="http://schemas.microsoft.com/office/drawing/2014/main" id="{C4CB142B-C8D4-40EF-1188-23E678D06AD4}"/>
                  </a:ext>
                </a:extLst>
              </p:cNvPr>
              <p:cNvSpPr txBox="1"/>
              <p:nvPr/>
            </p:nvSpPr>
            <p:spPr>
              <a:xfrm>
                <a:off x="2146255" y="2325056"/>
                <a:ext cx="1377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VHM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E294C22-8E8A-58D6-868F-C886A3282536}"/>
                </a:ext>
              </a:extLst>
            </p:cNvPr>
            <p:cNvGrpSpPr/>
            <p:nvPr/>
          </p:nvGrpSpPr>
          <p:grpSpPr>
            <a:xfrm>
              <a:off x="237687" y="3850328"/>
              <a:ext cx="925441" cy="1040954"/>
              <a:chOff x="3493456" y="1081046"/>
              <a:chExt cx="1377244" cy="1569510"/>
            </a:xfrm>
          </p:grpSpPr>
          <p:pic>
            <p:nvPicPr>
              <p:cNvPr id="13" name="Google Shape;229;p5">
                <a:extLst>
                  <a:ext uri="{FF2B5EF4-FFF2-40B4-BE49-F238E27FC236}">
                    <a16:creationId xmlns:a16="http://schemas.microsoft.com/office/drawing/2014/main" id="{8D5FC7E2-86B1-6CDF-5020-2FDCF88A86D0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3609831" y="1081046"/>
                <a:ext cx="1234424" cy="123638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18" name="Google Shape;234;p5">
                <a:extLst>
                  <a:ext uri="{FF2B5EF4-FFF2-40B4-BE49-F238E27FC236}">
                    <a16:creationId xmlns:a16="http://schemas.microsoft.com/office/drawing/2014/main" id="{73536760-1D08-D655-0EA3-D0E3E34B43CF}"/>
                  </a:ext>
                </a:extLst>
              </p:cNvPr>
              <p:cNvSpPr txBox="1"/>
              <p:nvPr/>
            </p:nvSpPr>
            <p:spPr>
              <a:xfrm>
                <a:off x="3493456" y="2342779"/>
                <a:ext cx="1377244" cy="3077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DEM</a:t>
                </a:r>
                <a:endParaRPr sz="14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3E225A4-95B0-3240-1A29-20B4B7EC6007}"/>
                </a:ext>
              </a:extLst>
            </p:cNvPr>
            <p:cNvGrpSpPr/>
            <p:nvPr/>
          </p:nvGrpSpPr>
          <p:grpSpPr>
            <a:xfrm>
              <a:off x="2896561" y="1479418"/>
              <a:ext cx="1377244" cy="502240"/>
              <a:chOff x="6805247" y="1410111"/>
              <a:chExt cx="1377244" cy="502240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E534824A-F193-3721-9126-4D7229B262E0}"/>
                  </a:ext>
                </a:extLst>
              </p:cNvPr>
              <p:cNvSpPr/>
              <p:nvPr/>
            </p:nvSpPr>
            <p:spPr>
              <a:xfrm>
                <a:off x="6805247" y="1410111"/>
                <a:ext cx="1377244" cy="502240"/>
              </a:xfrm>
              <a:prstGeom prst="roundRect">
                <a:avLst/>
              </a:prstGeom>
              <a:solidFill>
                <a:srgbClr val="B3FFFF"/>
              </a:solidFill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dirty="0" err="1">
                    <a:solidFill>
                      <a:sysClr val="windowText" lastClr="000000"/>
                    </a:solidFill>
                  </a:rPr>
                  <a:t>AnySat</a:t>
                </a:r>
                <a:endParaRPr lang="en-US" sz="200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F4BAA3C5-8003-CE37-E0F8-14276B81D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saturation sat="400000"/>
                        </a14:imgEffect>
                        <a14:imgEffect>
                          <a14:brightnessContrast bright="20000" contras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769309" y="1517046"/>
                <a:ext cx="281515" cy="309539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40" name="Manual Operation 39">
              <a:extLst>
                <a:ext uri="{FF2B5EF4-FFF2-40B4-BE49-F238E27FC236}">
                  <a16:creationId xmlns:a16="http://schemas.microsoft.com/office/drawing/2014/main" id="{60A9E731-0CA1-A74A-8B43-DB403DA23782}"/>
                </a:ext>
              </a:extLst>
            </p:cNvPr>
            <p:cNvSpPr/>
            <p:nvPr/>
          </p:nvSpPr>
          <p:spPr>
            <a:xfrm rot="16200000">
              <a:off x="1945807" y="-148836"/>
              <a:ext cx="787062" cy="1238329"/>
            </a:xfrm>
            <a:prstGeom prst="flowChartManualOperation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Resample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15BBBD5-FDD7-08DA-1730-F3CFAAB3AAAD}"/>
                </a:ext>
              </a:extLst>
            </p:cNvPr>
            <p:cNvCxnSpPr>
              <a:cxnSpLocks/>
              <a:stCxn id="14" idx="3"/>
              <a:endCxn id="40" idx="0"/>
            </p:cNvCxnSpPr>
            <p:nvPr/>
          </p:nvCxnSpPr>
          <p:spPr>
            <a:xfrm>
              <a:off x="1130129" y="470327"/>
              <a:ext cx="590045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188C461-20AB-A345-2717-1C0CB09154BE}"/>
                    </a:ext>
                  </a:extLst>
                </p:cNvPr>
                <p:cNvSpPr txBox="1"/>
                <p:nvPr/>
              </p:nvSpPr>
              <p:spPr>
                <a:xfrm>
                  <a:off x="1641052" y="905916"/>
                  <a:ext cx="1693124" cy="4406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sz="1600" i="1" dirty="0"/>
                    <a:t> ×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sz="1600" i="1" dirty="0"/>
                    <a:t> @0.2m/</a:t>
                  </a:r>
                  <a:r>
                    <a:rPr lang="en-US" sz="1600" i="1" dirty="0" err="1"/>
                    <a:t>px</a:t>
                  </a:r>
                  <a:r>
                    <a:rPr lang="en-US" sz="1600" i="1" dirty="0"/>
                    <a:t> </a:t>
                  </a:r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188C461-20AB-A345-2717-1C0CB09154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1052" y="905916"/>
                  <a:ext cx="1693124" cy="440633"/>
                </a:xfrm>
                <a:prstGeom prst="rect">
                  <a:avLst/>
                </a:prstGeom>
                <a:blipFill>
                  <a:blip r:embed="rId13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Elbow Connector 63">
              <a:extLst>
                <a:ext uri="{FF2B5EF4-FFF2-40B4-BE49-F238E27FC236}">
                  <a16:creationId xmlns:a16="http://schemas.microsoft.com/office/drawing/2014/main" id="{CC4796EF-0BBB-5A45-63EB-D8DA0484330B}"/>
                </a:ext>
              </a:extLst>
            </p:cNvPr>
            <p:cNvCxnSpPr>
              <a:cxnSpLocks/>
              <a:stCxn id="40" idx="2"/>
              <a:endCxn id="35" idx="0"/>
            </p:cNvCxnSpPr>
            <p:nvPr/>
          </p:nvCxnSpPr>
          <p:spPr>
            <a:xfrm>
              <a:off x="2958503" y="470328"/>
              <a:ext cx="626680" cy="1009090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lbow Connector 65">
              <a:extLst>
                <a:ext uri="{FF2B5EF4-FFF2-40B4-BE49-F238E27FC236}">
                  <a16:creationId xmlns:a16="http://schemas.microsoft.com/office/drawing/2014/main" id="{7C1A194A-A769-D392-A33C-74EC2EFA5B49}"/>
                </a:ext>
              </a:extLst>
            </p:cNvPr>
            <p:cNvCxnSpPr>
              <a:cxnSpLocks/>
              <a:stCxn id="24" idx="3"/>
              <a:endCxn id="35" idx="2"/>
            </p:cNvCxnSpPr>
            <p:nvPr/>
          </p:nvCxnSpPr>
          <p:spPr>
            <a:xfrm flipV="1">
              <a:off x="1165027" y="1981658"/>
              <a:ext cx="2420156" cy="948723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F070799-12D1-A857-BD41-EA80C9159EE3}"/>
                </a:ext>
              </a:extLst>
            </p:cNvPr>
            <p:cNvCxnSpPr>
              <a:cxnSpLocks/>
              <a:stCxn id="22" idx="3"/>
              <a:endCxn id="35" idx="1"/>
            </p:cNvCxnSpPr>
            <p:nvPr/>
          </p:nvCxnSpPr>
          <p:spPr>
            <a:xfrm flipV="1">
              <a:off x="1186411" y="1730538"/>
              <a:ext cx="171015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F6CCF81-C523-F444-EF3D-957DBF269972}"/>
                </a:ext>
              </a:extLst>
            </p:cNvPr>
            <p:cNvSpPr txBox="1"/>
            <p:nvPr/>
          </p:nvSpPr>
          <p:spPr>
            <a:xfrm>
              <a:off x="6096000" y="901223"/>
              <a:ext cx="1349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/>
                <a:t>Downsample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C956EA0-43AA-161E-910D-0618EC1BCF6B}"/>
                </a:ext>
              </a:extLst>
            </p:cNvPr>
            <p:cNvSpPr txBox="1"/>
            <p:nvPr/>
          </p:nvSpPr>
          <p:spPr>
            <a:xfrm>
              <a:off x="1204003" y="1739642"/>
              <a:ext cx="16931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Sub-patch = 10m</a:t>
              </a:r>
            </a:p>
          </p:txBody>
        </p:sp>
        <p:sp>
          <p:nvSpPr>
            <p:cNvPr id="71" name="Cube 70">
              <a:extLst>
                <a:ext uri="{FF2B5EF4-FFF2-40B4-BE49-F238E27FC236}">
                  <a16:creationId xmlns:a16="http://schemas.microsoft.com/office/drawing/2014/main" id="{7BB561A8-B325-283F-DAE8-1C72E7B58037}"/>
                </a:ext>
              </a:extLst>
            </p:cNvPr>
            <p:cNvSpPr/>
            <p:nvPr/>
          </p:nvSpPr>
          <p:spPr>
            <a:xfrm>
              <a:off x="4701849" y="848414"/>
              <a:ext cx="1349829" cy="1446858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solidFill>
                    <a:sysClr val="windowText" lastClr="000000"/>
                  </a:solidFill>
                </a:rPr>
                <a:t>Dense</a:t>
              </a:r>
              <a:r>
                <a:rPr lang="zh-CN" altLang="en-US" i="1" dirty="0">
                  <a:solidFill>
                    <a:sysClr val="windowText" lastClr="000000"/>
                  </a:solidFill>
                </a:rPr>
                <a:t> </a:t>
              </a:r>
              <a:r>
                <a:rPr lang="en-US" altLang="zh-CN" i="1" dirty="0">
                  <a:solidFill>
                    <a:sysClr val="windowText" lastClr="000000"/>
                  </a:solidFill>
                </a:rPr>
                <a:t>Feature</a:t>
              </a:r>
              <a:r>
                <a:rPr lang="zh-CN" altLang="en-US" i="1" dirty="0">
                  <a:solidFill>
                    <a:sysClr val="windowText" lastClr="000000"/>
                  </a:solidFill>
                </a:rPr>
                <a:t> </a:t>
              </a:r>
              <a:r>
                <a:rPr lang="en-US" altLang="zh-CN" i="1" dirty="0">
                  <a:solidFill>
                    <a:sysClr val="windowText" lastClr="000000"/>
                  </a:solidFill>
                </a:rPr>
                <a:t>Map</a:t>
              </a:r>
              <a:endParaRPr lang="en-US" i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9E2CFCB7-6429-38F6-7628-70EAC620DDC1}"/>
                </a:ext>
              </a:extLst>
            </p:cNvPr>
            <p:cNvCxnSpPr>
              <a:cxnSpLocks/>
              <a:stCxn id="35" idx="3"/>
              <a:endCxn id="71" idx="2"/>
            </p:cNvCxnSpPr>
            <p:nvPr/>
          </p:nvCxnSpPr>
          <p:spPr>
            <a:xfrm>
              <a:off x="4273805" y="1730538"/>
              <a:ext cx="428044" cy="100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721A725E-59F8-2F01-EEA2-E8257E51E32C}"/>
                    </a:ext>
                  </a:extLst>
                </p:cNvPr>
                <p:cNvSpPr txBox="1"/>
                <p:nvPr/>
              </p:nvSpPr>
              <p:spPr>
                <a:xfrm>
                  <a:off x="4130885" y="2360187"/>
                  <a:ext cx="2260045" cy="372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1536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30×30</m:t>
                            </m:r>
                          </m:sup>
                        </m:sSup>
                      </m:oMath>
                    </m:oMathPara>
                  </a14:m>
                  <a:endParaRPr lang="en-US" sz="16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721A725E-59F8-2F01-EEA2-E8257E51E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0885" y="2360187"/>
                  <a:ext cx="2260045" cy="3724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5B60ABD-E1BD-F313-3CE4-76A53FA02F9D}"/>
                </a:ext>
              </a:extLst>
            </p:cNvPr>
            <p:cNvGrpSpPr/>
            <p:nvPr/>
          </p:nvGrpSpPr>
          <p:grpSpPr>
            <a:xfrm>
              <a:off x="1547109" y="4620386"/>
              <a:ext cx="351692" cy="351692"/>
              <a:chOff x="5433646" y="4574581"/>
              <a:chExt cx="351692" cy="351692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67701C8F-774E-4C2F-0095-D1E63B42D96D}"/>
                  </a:ext>
                </a:extLst>
              </p:cNvPr>
              <p:cNvSpPr/>
              <p:nvPr/>
            </p:nvSpPr>
            <p:spPr>
              <a:xfrm>
                <a:off x="5433646" y="4574581"/>
                <a:ext cx="351692" cy="351692"/>
              </a:xfrm>
              <a:prstGeom prst="ellipse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0E2CA5B1-0380-3EA2-ECF1-79EE4AA623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5472" y="4750427"/>
                <a:ext cx="188039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5" name="Elbow Connector 84">
              <a:extLst>
                <a:ext uri="{FF2B5EF4-FFF2-40B4-BE49-F238E27FC236}">
                  <a16:creationId xmlns:a16="http://schemas.microsoft.com/office/drawing/2014/main" id="{74B49361-8253-D183-4D16-5D1556A32D41}"/>
                </a:ext>
              </a:extLst>
            </p:cNvPr>
            <p:cNvCxnSpPr>
              <a:cxnSpLocks/>
            </p:cNvCxnSpPr>
            <p:nvPr/>
          </p:nvCxnSpPr>
          <p:spPr>
            <a:xfrm>
              <a:off x="1145358" y="4260334"/>
              <a:ext cx="401751" cy="535898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C5646A93-C723-FF41-1B3A-518D1C78F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4338" y="4796232"/>
              <a:ext cx="402771" cy="584438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B45918B7-6582-96CE-E0EA-6B238F70A2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8801" y="4787992"/>
              <a:ext cx="257175" cy="8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>
              <a:extLst>
                <a:ext uri="{FF2B5EF4-FFF2-40B4-BE49-F238E27FC236}">
                  <a16:creationId xmlns:a16="http://schemas.microsoft.com/office/drawing/2014/main" id="{ABB76CC9-8D14-DE17-127D-600E39F4ED7A}"/>
                </a:ext>
              </a:extLst>
            </p:cNvPr>
            <p:cNvSpPr/>
            <p:nvPr/>
          </p:nvSpPr>
          <p:spPr>
            <a:xfrm>
              <a:off x="3596941" y="4478300"/>
              <a:ext cx="1760484" cy="521522"/>
            </a:xfrm>
            <a:prstGeom prst="roundRect">
              <a:avLst/>
            </a:prstGeom>
            <a:solidFill>
              <a:srgbClr val="FFC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ysClr val="windowText" lastClr="000000"/>
                  </a:solidFill>
                </a:rPr>
                <a:t>VHM Encoder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AB484B5-AA36-8DAC-7795-094CD85AD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848972" y="4532921"/>
              <a:ext cx="336588" cy="412280"/>
            </a:xfrm>
            <a:prstGeom prst="rect">
              <a:avLst/>
            </a:prstGeom>
          </p:spPr>
        </p:pic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3A7DEC99-C5F0-01A1-5CBA-4DC9206A92CB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72" y="4787992"/>
              <a:ext cx="60886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24958D1E-92E8-0BCF-89DD-C58AD4293659}"/>
                </a:ext>
              </a:extLst>
            </p:cNvPr>
            <p:cNvCxnSpPr>
              <a:cxnSpLocks/>
            </p:cNvCxnSpPr>
            <p:nvPr/>
          </p:nvCxnSpPr>
          <p:spPr>
            <a:xfrm>
              <a:off x="5805240" y="1701257"/>
              <a:ext cx="58569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AF78BA0E-5990-1262-3A38-492A904C07F8}"/>
                </a:ext>
              </a:extLst>
            </p:cNvPr>
            <p:cNvGrpSpPr/>
            <p:nvPr/>
          </p:nvGrpSpPr>
          <p:grpSpPr>
            <a:xfrm>
              <a:off x="6441457" y="1234531"/>
              <a:ext cx="535163" cy="933453"/>
              <a:chOff x="6453641" y="1673550"/>
              <a:chExt cx="535163" cy="933453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6B8E1B3A-4B36-67C4-81F2-B0E1C99803A1}"/>
                  </a:ext>
                </a:extLst>
              </p:cNvPr>
              <p:cNvSpPr/>
              <p:nvPr/>
            </p:nvSpPr>
            <p:spPr>
              <a:xfrm>
                <a:off x="6453641" y="1673550"/>
                <a:ext cx="136187" cy="933453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0A9FD106-F346-DD2E-613A-AE327E526E99}"/>
                  </a:ext>
                </a:extLst>
              </p:cNvPr>
              <p:cNvSpPr/>
              <p:nvPr/>
            </p:nvSpPr>
            <p:spPr>
              <a:xfrm>
                <a:off x="6649042" y="1745635"/>
                <a:ext cx="136187" cy="73053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69F42C8C-1EED-C049-ABE3-6BE75796640D}"/>
                  </a:ext>
                </a:extLst>
              </p:cNvPr>
              <p:cNvSpPr/>
              <p:nvPr/>
            </p:nvSpPr>
            <p:spPr>
              <a:xfrm>
                <a:off x="6852617" y="1849064"/>
                <a:ext cx="136187" cy="52367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26C60035-F7C3-F1DA-7667-4A5C8861D3FF}"/>
                </a:ext>
              </a:extLst>
            </p:cNvPr>
            <p:cNvCxnSpPr>
              <a:cxnSpLocks/>
              <a:stCxn id="125" idx="3"/>
            </p:cNvCxnSpPr>
            <p:nvPr/>
          </p:nvCxnSpPr>
          <p:spPr>
            <a:xfrm flipV="1">
              <a:off x="6976620" y="1671077"/>
              <a:ext cx="502456" cy="8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E3D79341-992B-B9AE-3D95-92F7A15963B2}"/>
                    </a:ext>
                  </a:extLst>
                </p:cNvPr>
                <p:cNvSpPr txBox="1"/>
                <p:nvPr/>
              </p:nvSpPr>
              <p:spPr>
                <a:xfrm>
                  <a:off x="7366399" y="1516063"/>
                  <a:ext cx="1431527" cy="370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256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30×30</m:t>
                            </m:r>
                          </m:sup>
                        </m:sSup>
                      </m:oMath>
                    </m:oMathPara>
                  </a14:m>
                  <a:endParaRPr lang="en-US" sz="16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E3D79341-992B-B9AE-3D95-92F7A15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6399" y="1516063"/>
                  <a:ext cx="1431527" cy="37038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CEC4A23-3CA3-D1E8-4E26-27D3D94E9C35}"/>
                </a:ext>
              </a:extLst>
            </p:cNvPr>
            <p:cNvSpPr txBox="1"/>
            <p:nvPr/>
          </p:nvSpPr>
          <p:spPr>
            <a:xfrm>
              <a:off x="138738" y="6175678"/>
              <a:ext cx="1865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/>
                <a:t>(Lat, Lon, Year)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E50B4DFF-2A4F-9D85-6E97-5D91B043C654}"/>
                </a:ext>
              </a:extLst>
            </p:cNvPr>
            <p:cNvGrpSpPr/>
            <p:nvPr/>
          </p:nvGrpSpPr>
          <p:grpSpPr>
            <a:xfrm>
              <a:off x="2284157" y="6118672"/>
              <a:ext cx="1667693" cy="502240"/>
              <a:chOff x="6805247" y="1410111"/>
              <a:chExt cx="1667693" cy="502240"/>
            </a:xfrm>
          </p:grpSpPr>
          <p:sp>
            <p:nvSpPr>
              <p:cNvPr id="137" name="Rounded Rectangle 136">
                <a:extLst>
                  <a:ext uri="{FF2B5EF4-FFF2-40B4-BE49-F238E27FC236}">
                    <a16:creationId xmlns:a16="http://schemas.microsoft.com/office/drawing/2014/main" id="{77C0F8FE-9FEE-8D9F-96AF-73C738D97BCF}"/>
                  </a:ext>
                </a:extLst>
              </p:cNvPr>
              <p:cNvSpPr/>
              <p:nvPr/>
            </p:nvSpPr>
            <p:spPr>
              <a:xfrm>
                <a:off x="6805247" y="1410111"/>
                <a:ext cx="1667693" cy="502240"/>
              </a:xfrm>
              <a:prstGeom prst="roundRect">
                <a:avLst/>
              </a:prstGeom>
              <a:solidFill>
                <a:srgbClr val="B3FFFF"/>
              </a:solidFill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dirty="0" err="1">
                    <a:solidFill>
                      <a:sysClr val="windowText" lastClr="000000"/>
                    </a:solidFill>
                  </a:rPr>
                  <a:t>Climplicit</a:t>
                </a:r>
                <a:endParaRPr lang="en-US" sz="200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38" name="Picture 137">
                <a:extLst>
                  <a:ext uri="{FF2B5EF4-FFF2-40B4-BE49-F238E27FC236}">
                    <a16:creationId xmlns:a16="http://schemas.microsoft.com/office/drawing/2014/main" id="{D23D4E45-FDE0-5C0A-BD5E-D4E775BED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saturation sat="400000"/>
                        </a14:imgEffect>
                        <a14:imgEffect>
                          <a14:brightnessContrast bright="20000" contras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061917" y="1517046"/>
                <a:ext cx="281515" cy="309539"/>
              </a:xfrm>
              <a:prstGeom prst="rect">
                <a:avLst/>
              </a:prstGeom>
              <a:ln w="38100">
                <a:noFill/>
              </a:ln>
            </p:spPr>
          </p:pic>
        </p:grp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884A3938-CE36-6623-B19E-9E5AA0DFF490}"/>
                </a:ext>
              </a:extLst>
            </p:cNvPr>
            <p:cNvCxnSpPr>
              <a:cxnSpLocks/>
              <a:endCxn id="137" idx="1"/>
            </p:cNvCxnSpPr>
            <p:nvPr/>
          </p:nvCxnSpPr>
          <p:spPr>
            <a:xfrm>
              <a:off x="1816974" y="6369792"/>
              <a:ext cx="46718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6A2AD32E-F3E0-2CD6-60DC-D369C78CD682}"/>
                </a:ext>
              </a:extLst>
            </p:cNvPr>
            <p:cNvGrpSpPr/>
            <p:nvPr/>
          </p:nvGrpSpPr>
          <p:grpSpPr>
            <a:xfrm>
              <a:off x="4080312" y="6118672"/>
              <a:ext cx="1997400" cy="584253"/>
              <a:chOff x="4691636" y="6248729"/>
              <a:chExt cx="1997400" cy="584253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ABD0CB84-93F9-B687-1C23-5DBF8479E73E}"/>
                  </a:ext>
                </a:extLst>
              </p:cNvPr>
              <p:cNvSpPr/>
              <p:nvPr/>
            </p:nvSpPr>
            <p:spPr>
              <a:xfrm>
                <a:off x="5151013" y="6415947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CE50DDB8-C20C-0449-AF6D-5943FC25E540}"/>
                  </a:ext>
                </a:extLst>
              </p:cNvPr>
              <p:cNvSpPr/>
              <p:nvPr/>
            </p:nvSpPr>
            <p:spPr>
              <a:xfrm>
                <a:off x="5346515" y="6415947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756D41FB-C991-3034-9024-B7B4B7A74DB6}"/>
                  </a:ext>
                </a:extLst>
              </p:cNvPr>
              <p:cNvSpPr/>
              <p:nvPr/>
            </p:nvSpPr>
            <p:spPr>
              <a:xfrm>
                <a:off x="5543656" y="6415947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F22F9794-45EF-072B-84AA-1654A84D743C}"/>
                  </a:ext>
                </a:extLst>
              </p:cNvPr>
              <p:cNvSpPr/>
              <p:nvPr/>
            </p:nvSpPr>
            <p:spPr>
              <a:xfrm>
                <a:off x="5949320" y="6415947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7761184-1ABE-AFD4-65AD-C6B5B792BCA4}"/>
                  </a:ext>
                </a:extLst>
              </p:cNvPr>
              <p:cNvSpPr txBox="1"/>
              <p:nvPr/>
            </p:nvSpPr>
            <p:spPr>
              <a:xfrm>
                <a:off x="5643495" y="6248729"/>
                <a:ext cx="332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95272B2F-3BA6-F62B-2BAA-745A436A2EC7}"/>
                      </a:ext>
                    </a:extLst>
                  </p:cNvPr>
                  <p:cNvSpPr txBox="1"/>
                  <p:nvPr/>
                </p:nvSpPr>
                <p:spPr>
                  <a:xfrm>
                    <a:off x="4691636" y="6522832"/>
                    <a:ext cx="1997400" cy="3101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𝑒𝑚𝑏𝑒𝑑𝑑𝑖𝑛𝑔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256</m:t>
                              </m:r>
                            </m:sup>
                          </m:sSup>
                        </m:oMath>
                      </m:oMathPara>
                    </a14:m>
                    <a:endParaRPr lang="en-US" sz="12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95272B2F-3BA6-F62B-2BAA-745A436A2E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1636" y="6522832"/>
                    <a:ext cx="1997400" cy="31015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1ED76702-F576-BEA7-A4B2-61B335E5B399}"/>
                </a:ext>
              </a:extLst>
            </p:cNvPr>
            <p:cNvCxnSpPr>
              <a:cxnSpLocks/>
              <a:stCxn id="137" idx="3"/>
            </p:cNvCxnSpPr>
            <p:nvPr/>
          </p:nvCxnSpPr>
          <p:spPr>
            <a:xfrm>
              <a:off x="3951850" y="6369792"/>
              <a:ext cx="4859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148">
                  <a:extLst>
                    <a:ext uri="{FF2B5EF4-FFF2-40B4-BE49-F238E27FC236}">
                      <a16:creationId xmlns:a16="http://schemas.microsoft.com/office/drawing/2014/main" id="{7581EE22-110F-0D88-0A65-FF74553C771E}"/>
                    </a:ext>
                  </a:extLst>
                </p:cNvPr>
                <p:cNvSpPr txBox="1"/>
                <p:nvPr/>
              </p:nvSpPr>
              <p:spPr>
                <a:xfrm>
                  <a:off x="6030494" y="6547850"/>
                  <a:ext cx="1997400" cy="31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256</m:t>
                            </m:r>
                            <m:r>
                              <a:rPr lang="zh-CN" alt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30×30</m:t>
                            </m:r>
                          </m:sup>
                        </m:sSup>
                      </m:oMath>
                    </m:oMathPara>
                  </a14:m>
                  <a:endParaRPr lang="en-US" sz="12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2" name="TextBox 148">
                  <a:extLst>
                    <a:ext uri="{FF2B5EF4-FFF2-40B4-BE49-F238E27FC236}">
                      <a16:creationId xmlns:a16="http://schemas.microsoft.com/office/drawing/2014/main" id="{7581EE22-110F-0D88-0A65-FF74553C7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0494" y="6547850"/>
                  <a:ext cx="1997400" cy="31015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152">
              <a:extLst>
                <a:ext uri="{FF2B5EF4-FFF2-40B4-BE49-F238E27FC236}">
                  <a16:creationId xmlns:a16="http://schemas.microsoft.com/office/drawing/2014/main" id="{E45E0735-CB60-D10C-AAF3-DCCC5C001C4C}"/>
                </a:ext>
              </a:extLst>
            </p:cNvPr>
            <p:cNvCxnSpPr>
              <a:cxnSpLocks/>
            </p:cNvCxnSpPr>
            <p:nvPr/>
          </p:nvCxnSpPr>
          <p:spPr>
            <a:xfrm>
              <a:off x="5670059" y="6387057"/>
              <a:ext cx="72087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915E301F-5EF2-3400-3B98-A5C5911C799F}"/>
                </a:ext>
              </a:extLst>
            </p:cNvPr>
            <p:cNvGrpSpPr/>
            <p:nvPr/>
          </p:nvGrpSpPr>
          <p:grpSpPr>
            <a:xfrm>
              <a:off x="6512951" y="5942058"/>
              <a:ext cx="1018327" cy="639384"/>
              <a:chOff x="6461752" y="5874042"/>
              <a:chExt cx="1018327" cy="639384"/>
            </a:xfrm>
          </p:grpSpPr>
          <p:sp>
            <p:nvSpPr>
              <p:cNvPr id="3" name="Rectangle 141">
                <a:extLst>
                  <a:ext uri="{FF2B5EF4-FFF2-40B4-BE49-F238E27FC236}">
                    <a16:creationId xmlns:a16="http://schemas.microsoft.com/office/drawing/2014/main" id="{CD89D775-3999-AB88-3E6B-B784D6A183E3}"/>
                  </a:ext>
                </a:extLst>
              </p:cNvPr>
              <p:cNvSpPr/>
              <p:nvPr/>
            </p:nvSpPr>
            <p:spPr>
              <a:xfrm>
                <a:off x="6461752" y="631131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144">
                <a:extLst>
                  <a:ext uri="{FF2B5EF4-FFF2-40B4-BE49-F238E27FC236}">
                    <a16:creationId xmlns:a16="http://schemas.microsoft.com/office/drawing/2014/main" id="{41391291-963F-F321-9EC8-1E2C709B1FF0}"/>
                  </a:ext>
                </a:extLst>
              </p:cNvPr>
              <p:cNvSpPr/>
              <p:nvPr/>
            </p:nvSpPr>
            <p:spPr>
              <a:xfrm>
                <a:off x="6657254" y="631131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45">
                <a:extLst>
                  <a:ext uri="{FF2B5EF4-FFF2-40B4-BE49-F238E27FC236}">
                    <a16:creationId xmlns:a16="http://schemas.microsoft.com/office/drawing/2014/main" id="{6A3C4CDC-8291-62D1-1590-8079018147B0}"/>
                  </a:ext>
                </a:extLst>
              </p:cNvPr>
              <p:cNvSpPr/>
              <p:nvPr/>
            </p:nvSpPr>
            <p:spPr>
              <a:xfrm>
                <a:off x="6854395" y="631131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46">
                <a:extLst>
                  <a:ext uri="{FF2B5EF4-FFF2-40B4-BE49-F238E27FC236}">
                    <a16:creationId xmlns:a16="http://schemas.microsoft.com/office/drawing/2014/main" id="{8E7C5CB3-F388-9BFD-8B57-E9D534F93353}"/>
                  </a:ext>
                </a:extLst>
              </p:cNvPr>
              <p:cNvSpPr/>
              <p:nvPr/>
            </p:nvSpPr>
            <p:spPr>
              <a:xfrm>
                <a:off x="7260059" y="631131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147">
                <a:extLst>
                  <a:ext uri="{FF2B5EF4-FFF2-40B4-BE49-F238E27FC236}">
                    <a16:creationId xmlns:a16="http://schemas.microsoft.com/office/drawing/2014/main" id="{B110E68C-7CFB-FA6E-C18B-E7892996C8F5}"/>
                  </a:ext>
                </a:extLst>
              </p:cNvPr>
              <p:cNvSpPr txBox="1"/>
              <p:nvPr/>
            </p:nvSpPr>
            <p:spPr>
              <a:xfrm>
                <a:off x="6954234" y="6144094"/>
                <a:ext cx="332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  <p:sp>
            <p:nvSpPr>
              <p:cNvPr id="37" name="Rectangle 141">
                <a:extLst>
                  <a:ext uri="{FF2B5EF4-FFF2-40B4-BE49-F238E27FC236}">
                    <a16:creationId xmlns:a16="http://schemas.microsoft.com/office/drawing/2014/main" id="{C41EC827-92B7-9880-8711-175F2307C46A}"/>
                  </a:ext>
                </a:extLst>
              </p:cNvPr>
              <p:cNvSpPr/>
              <p:nvPr/>
            </p:nvSpPr>
            <p:spPr>
              <a:xfrm>
                <a:off x="6461752" y="6129383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144">
                <a:extLst>
                  <a:ext uri="{FF2B5EF4-FFF2-40B4-BE49-F238E27FC236}">
                    <a16:creationId xmlns:a16="http://schemas.microsoft.com/office/drawing/2014/main" id="{757237C4-46CC-3C63-E6BA-613801A851C4}"/>
                  </a:ext>
                </a:extLst>
              </p:cNvPr>
              <p:cNvSpPr/>
              <p:nvPr/>
            </p:nvSpPr>
            <p:spPr>
              <a:xfrm>
                <a:off x="6657254" y="6129383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145">
                <a:extLst>
                  <a:ext uri="{FF2B5EF4-FFF2-40B4-BE49-F238E27FC236}">
                    <a16:creationId xmlns:a16="http://schemas.microsoft.com/office/drawing/2014/main" id="{4FEBFCDC-4A49-EB5F-3762-E7AA8B999BE8}"/>
                  </a:ext>
                </a:extLst>
              </p:cNvPr>
              <p:cNvSpPr/>
              <p:nvPr/>
            </p:nvSpPr>
            <p:spPr>
              <a:xfrm>
                <a:off x="6854395" y="6129383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146">
                <a:extLst>
                  <a:ext uri="{FF2B5EF4-FFF2-40B4-BE49-F238E27FC236}">
                    <a16:creationId xmlns:a16="http://schemas.microsoft.com/office/drawing/2014/main" id="{6DCFDB2E-180E-947B-51B1-7CF8D57B4078}"/>
                  </a:ext>
                </a:extLst>
              </p:cNvPr>
              <p:cNvSpPr/>
              <p:nvPr/>
            </p:nvSpPr>
            <p:spPr>
              <a:xfrm>
                <a:off x="7260059" y="6129383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141">
                <a:extLst>
                  <a:ext uri="{FF2B5EF4-FFF2-40B4-BE49-F238E27FC236}">
                    <a16:creationId xmlns:a16="http://schemas.microsoft.com/office/drawing/2014/main" id="{B38CA04E-F6B3-EDC7-F856-2E11D7C8E0F0}"/>
                  </a:ext>
                </a:extLst>
              </p:cNvPr>
              <p:cNvSpPr/>
              <p:nvPr/>
            </p:nvSpPr>
            <p:spPr>
              <a:xfrm>
                <a:off x="6461752" y="5941980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144">
                <a:extLst>
                  <a:ext uri="{FF2B5EF4-FFF2-40B4-BE49-F238E27FC236}">
                    <a16:creationId xmlns:a16="http://schemas.microsoft.com/office/drawing/2014/main" id="{AB618043-859E-716E-E7E2-D19ED3643328}"/>
                  </a:ext>
                </a:extLst>
              </p:cNvPr>
              <p:cNvSpPr/>
              <p:nvPr/>
            </p:nvSpPr>
            <p:spPr>
              <a:xfrm>
                <a:off x="6657254" y="5941980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145">
                <a:extLst>
                  <a:ext uri="{FF2B5EF4-FFF2-40B4-BE49-F238E27FC236}">
                    <a16:creationId xmlns:a16="http://schemas.microsoft.com/office/drawing/2014/main" id="{1EE06F77-E9B4-2543-C627-893B516C6257}"/>
                  </a:ext>
                </a:extLst>
              </p:cNvPr>
              <p:cNvSpPr/>
              <p:nvPr/>
            </p:nvSpPr>
            <p:spPr>
              <a:xfrm>
                <a:off x="6854395" y="5941980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146">
                <a:extLst>
                  <a:ext uri="{FF2B5EF4-FFF2-40B4-BE49-F238E27FC236}">
                    <a16:creationId xmlns:a16="http://schemas.microsoft.com/office/drawing/2014/main" id="{0A2D8ED1-8E0C-33E7-C1C8-0C2E7AE2E12A}"/>
                  </a:ext>
                </a:extLst>
              </p:cNvPr>
              <p:cNvSpPr/>
              <p:nvPr/>
            </p:nvSpPr>
            <p:spPr>
              <a:xfrm>
                <a:off x="7260059" y="5941980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141">
                <a:extLst>
                  <a:ext uri="{FF2B5EF4-FFF2-40B4-BE49-F238E27FC236}">
                    <a16:creationId xmlns:a16="http://schemas.microsoft.com/office/drawing/2014/main" id="{FBE13071-4148-2032-5D6E-1ABE6CBE0601}"/>
                  </a:ext>
                </a:extLst>
              </p:cNvPr>
              <p:cNvSpPr/>
              <p:nvPr/>
            </p:nvSpPr>
            <p:spPr>
              <a:xfrm>
                <a:off x="6534089" y="587404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144">
                <a:extLst>
                  <a:ext uri="{FF2B5EF4-FFF2-40B4-BE49-F238E27FC236}">
                    <a16:creationId xmlns:a16="http://schemas.microsoft.com/office/drawing/2014/main" id="{38A7B94F-8F1C-B7F3-1E27-8983E4721DC3}"/>
                  </a:ext>
                </a:extLst>
              </p:cNvPr>
              <p:cNvSpPr/>
              <p:nvPr/>
            </p:nvSpPr>
            <p:spPr>
              <a:xfrm>
                <a:off x="6729591" y="587404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145">
                <a:extLst>
                  <a:ext uri="{FF2B5EF4-FFF2-40B4-BE49-F238E27FC236}">
                    <a16:creationId xmlns:a16="http://schemas.microsoft.com/office/drawing/2014/main" id="{2FED7171-B31B-9F0C-0571-F353D3D09BCE}"/>
                  </a:ext>
                </a:extLst>
              </p:cNvPr>
              <p:cNvSpPr/>
              <p:nvPr/>
            </p:nvSpPr>
            <p:spPr>
              <a:xfrm>
                <a:off x="6926732" y="587404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146">
                <a:extLst>
                  <a:ext uri="{FF2B5EF4-FFF2-40B4-BE49-F238E27FC236}">
                    <a16:creationId xmlns:a16="http://schemas.microsoft.com/office/drawing/2014/main" id="{6888B52F-AA95-9476-2133-F043684EEA8B}"/>
                  </a:ext>
                </a:extLst>
              </p:cNvPr>
              <p:cNvSpPr/>
              <p:nvPr/>
            </p:nvSpPr>
            <p:spPr>
              <a:xfrm>
                <a:off x="7332396" y="587404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141">
                <a:extLst>
                  <a:ext uri="{FF2B5EF4-FFF2-40B4-BE49-F238E27FC236}">
                    <a16:creationId xmlns:a16="http://schemas.microsoft.com/office/drawing/2014/main" id="{CB90267B-DA4B-1B47-6814-5740B22AD44A}"/>
                  </a:ext>
                </a:extLst>
              </p:cNvPr>
              <p:cNvSpPr/>
              <p:nvPr/>
            </p:nvSpPr>
            <p:spPr>
              <a:xfrm>
                <a:off x="6534089" y="606949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144">
                <a:extLst>
                  <a:ext uri="{FF2B5EF4-FFF2-40B4-BE49-F238E27FC236}">
                    <a16:creationId xmlns:a16="http://schemas.microsoft.com/office/drawing/2014/main" id="{F1BBC832-4486-5B25-26B3-F5809DDA4989}"/>
                  </a:ext>
                </a:extLst>
              </p:cNvPr>
              <p:cNvSpPr/>
              <p:nvPr/>
            </p:nvSpPr>
            <p:spPr>
              <a:xfrm>
                <a:off x="6729591" y="606949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145">
                <a:extLst>
                  <a:ext uri="{FF2B5EF4-FFF2-40B4-BE49-F238E27FC236}">
                    <a16:creationId xmlns:a16="http://schemas.microsoft.com/office/drawing/2014/main" id="{D52CC626-8743-4592-B27D-3193C045A725}"/>
                  </a:ext>
                </a:extLst>
              </p:cNvPr>
              <p:cNvSpPr/>
              <p:nvPr/>
            </p:nvSpPr>
            <p:spPr>
              <a:xfrm>
                <a:off x="6926732" y="606949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146">
                <a:extLst>
                  <a:ext uri="{FF2B5EF4-FFF2-40B4-BE49-F238E27FC236}">
                    <a16:creationId xmlns:a16="http://schemas.microsoft.com/office/drawing/2014/main" id="{6817C02C-68E7-3DCB-522D-364F7DABECA4}"/>
                  </a:ext>
                </a:extLst>
              </p:cNvPr>
              <p:cNvSpPr/>
              <p:nvPr/>
            </p:nvSpPr>
            <p:spPr>
              <a:xfrm>
                <a:off x="7332396" y="6069492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141">
                <a:extLst>
                  <a:ext uri="{FF2B5EF4-FFF2-40B4-BE49-F238E27FC236}">
                    <a16:creationId xmlns:a16="http://schemas.microsoft.com/office/drawing/2014/main" id="{E1E68943-AFB9-9FAD-E7AA-F299FFD5DD0F}"/>
                  </a:ext>
                </a:extLst>
              </p:cNvPr>
              <p:cNvSpPr/>
              <p:nvPr/>
            </p:nvSpPr>
            <p:spPr>
              <a:xfrm>
                <a:off x="6535092" y="6262496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144">
                <a:extLst>
                  <a:ext uri="{FF2B5EF4-FFF2-40B4-BE49-F238E27FC236}">
                    <a16:creationId xmlns:a16="http://schemas.microsoft.com/office/drawing/2014/main" id="{40C80C08-E787-3CE0-7957-3E915FD3A31B}"/>
                  </a:ext>
                </a:extLst>
              </p:cNvPr>
              <p:cNvSpPr/>
              <p:nvPr/>
            </p:nvSpPr>
            <p:spPr>
              <a:xfrm>
                <a:off x="6730594" y="6262496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145">
                <a:extLst>
                  <a:ext uri="{FF2B5EF4-FFF2-40B4-BE49-F238E27FC236}">
                    <a16:creationId xmlns:a16="http://schemas.microsoft.com/office/drawing/2014/main" id="{D7EA7812-9F0E-7BD7-C818-DA6A0D59FBA0}"/>
                  </a:ext>
                </a:extLst>
              </p:cNvPr>
              <p:cNvSpPr/>
              <p:nvPr/>
            </p:nvSpPr>
            <p:spPr>
              <a:xfrm>
                <a:off x="6927735" y="6262496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146">
                <a:extLst>
                  <a:ext uri="{FF2B5EF4-FFF2-40B4-BE49-F238E27FC236}">
                    <a16:creationId xmlns:a16="http://schemas.microsoft.com/office/drawing/2014/main" id="{A313C1FB-483D-67B7-5691-82375151CCD0}"/>
                  </a:ext>
                </a:extLst>
              </p:cNvPr>
              <p:cNvSpPr/>
              <p:nvPr/>
            </p:nvSpPr>
            <p:spPr>
              <a:xfrm>
                <a:off x="7333399" y="6262496"/>
                <a:ext cx="146680" cy="1434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2" name="TextBox 69">
              <a:extLst>
                <a:ext uri="{FF2B5EF4-FFF2-40B4-BE49-F238E27FC236}">
                  <a16:creationId xmlns:a16="http://schemas.microsoft.com/office/drawing/2014/main" id="{254845E3-4C65-DDB3-6437-4A3B0CEE69D3}"/>
                </a:ext>
              </a:extLst>
            </p:cNvPr>
            <p:cNvSpPr txBox="1"/>
            <p:nvPr/>
          </p:nvSpPr>
          <p:spPr>
            <a:xfrm>
              <a:off x="1460006" y="2975620"/>
              <a:ext cx="16931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Sub-patch = 10m</a:t>
              </a:r>
            </a:p>
          </p:txBody>
        </p:sp>
        <p:sp>
          <p:nvSpPr>
            <p:cNvPr id="83" name="TextBox 69">
              <a:extLst>
                <a:ext uri="{FF2B5EF4-FFF2-40B4-BE49-F238E27FC236}">
                  <a16:creationId xmlns:a16="http://schemas.microsoft.com/office/drawing/2014/main" id="{2DCC4B52-16DC-241F-BC82-F365DB21CF99}"/>
                </a:ext>
              </a:extLst>
            </p:cNvPr>
            <p:cNvSpPr txBox="1"/>
            <p:nvPr/>
          </p:nvSpPr>
          <p:spPr>
            <a:xfrm>
              <a:off x="5161271" y="6110058"/>
              <a:ext cx="16931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i="1" dirty="0"/>
                <a:t>broadcast</a:t>
              </a:r>
              <a:endParaRPr lang="en-US" sz="1200" i="1" dirty="0"/>
            </a:p>
          </p:txBody>
        </p:sp>
        <p:sp>
          <p:nvSpPr>
            <p:cNvPr id="95" name="Rounded Rectangle 90">
              <a:extLst>
                <a:ext uri="{FF2B5EF4-FFF2-40B4-BE49-F238E27FC236}">
                  <a16:creationId xmlns:a16="http://schemas.microsoft.com/office/drawing/2014/main" id="{1606FA45-EC4C-FB4D-63F9-60BEABD84D7E}"/>
                </a:ext>
              </a:extLst>
            </p:cNvPr>
            <p:cNvSpPr/>
            <p:nvPr/>
          </p:nvSpPr>
          <p:spPr>
            <a:xfrm>
              <a:off x="6664243" y="2831561"/>
              <a:ext cx="563605" cy="1868621"/>
            </a:xfrm>
            <a:prstGeom prst="roundRect">
              <a:avLst/>
            </a:prstGeom>
            <a:solidFill>
              <a:srgbClr val="FFC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r>
                <a:rPr lang="en-US" altLang="zh-CN" sz="1600" dirty="0">
                  <a:solidFill>
                    <a:sysClr val="windowText" lastClr="000000"/>
                  </a:solidFill>
                </a:rPr>
                <a:t>    Gated Unit</a:t>
              </a:r>
              <a:endParaRPr 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98" name="连接符: 肘形 97">
              <a:extLst>
                <a:ext uri="{FF2B5EF4-FFF2-40B4-BE49-F238E27FC236}">
                  <a16:creationId xmlns:a16="http://schemas.microsoft.com/office/drawing/2014/main" id="{D36D3AFB-EE0D-F277-FC86-84FEC960C1F2}"/>
                </a:ext>
              </a:extLst>
            </p:cNvPr>
            <p:cNvCxnSpPr>
              <a:cxnSpLocks/>
              <a:stCxn id="91" idx="3"/>
              <a:endCxn id="95" idx="1"/>
            </p:cNvCxnSpPr>
            <p:nvPr/>
          </p:nvCxnSpPr>
          <p:spPr>
            <a:xfrm flipV="1">
              <a:off x="5357425" y="3765872"/>
              <a:ext cx="1306818" cy="97318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连接符: 肘形 99">
              <a:extLst>
                <a:ext uri="{FF2B5EF4-FFF2-40B4-BE49-F238E27FC236}">
                  <a16:creationId xmlns:a16="http://schemas.microsoft.com/office/drawing/2014/main" id="{9D041C72-1670-F83F-8912-26930D084C60}"/>
                </a:ext>
              </a:extLst>
            </p:cNvPr>
            <p:cNvCxnSpPr>
              <a:cxnSpLocks/>
              <a:stCxn id="133" idx="2"/>
              <a:endCxn id="95" idx="0"/>
            </p:cNvCxnSpPr>
            <p:nvPr/>
          </p:nvCxnSpPr>
          <p:spPr>
            <a:xfrm rot="5400000">
              <a:off x="7041550" y="1790948"/>
              <a:ext cx="945110" cy="1136117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连接符: 肘形 103">
              <a:extLst>
                <a:ext uri="{FF2B5EF4-FFF2-40B4-BE49-F238E27FC236}">
                  <a16:creationId xmlns:a16="http://schemas.microsoft.com/office/drawing/2014/main" id="{F91B3150-1221-1845-6814-AA1D843D8AD5}"/>
                </a:ext>
              </a:extLst>
            </p:cNvPr>
            <p:cNvCxnSpPr>
              <a:cxnSpLocks/>
              <a:stCxn id="72" idx="3"/>
              <a:endCxn id="95" idx="2"/>
            </p:cNvCxnSpPr>
            <p:nvPr/>
          </p:nvCxnSpPr>
          <p:spPr>
            <a:xfrm flipH="1" flipV="1">
              <a:off x="6946046" y="4700182"/>
              <a:ext cx="584229" cy="1509043"/>
            </a:xfrm>
            <a:prstGeom prst="bentConnector4">
              <a:avLst>
                <a:gd name="adj1" fmla="val -15651"/>
                <a:gd name="adj2" fmla="val 34198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1652FE73-4333-4D12-EACE-2FD081295A84}"/>
                </a:ext>
              </a:extLst>
            </p:cNvPr>
            <p:cNvSpPr/>
            <p:nvPr/>
          </p:nvSpPr>
          <p:spPr>
            <a:xfrm>
              <a:off x="7748841" y="2810514"/>
              <a:ext cx="558105" cy="55165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4D7B750D-E191-A51E-572D-A0B18CC12654}"/>
                </a:ext>
              </a:extLst>
            </p:cNvPr>
            <p:cNvSpPr/>
            <p:nvPr/>
          </p:nvSpPr>
          <p:spPr>
            <a:xfrm>
              <a:off x="7814766" y="3488521"/>
              <a:ext cx="429512" cy="4245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36CFBC52-1A0A-EF19-0FBF-62D678585A9A}"/>
                </a:ext>
              </a:extLst>
            </p:cNvPr>
            <p:cNvSpPr/>
            <p:nvPr/>
          </p:nvSpPr>
          <p:spPr>
            <a:xfrm>
              <a:off x="7871005" y="4038032"/>
              <a:ext cx="313775" cy="3101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AB0100C1-B363-44D4-6FA6-3E6CAB69C1F7}"/>
                </a:ext>
              </a:extLst>
            </p:cNvPr>
            <p:cNvSpPr/>
            <p:nvPr/>
          </p:nvSpPr>
          <p:spPr>
            <a:xfrm>
              <a:off x="7907674" y="4473143"/>
              <a:ext cx="238770" cy="2360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88BF47B9-78FA-FD08-71FB-89824E3AEFCF}"/>
                </a:ext>
              </a:extLst>
            </p:cNvPr>
            <p:cNvCxnSpPr>
              <a:cxnSpLocks/>
              <a:endCxn id="170" idx="1"/>
            </p:cNvCxnSpPr>
            <p:nvPr/>
          </p:nvCxnSpPr>
          <p:spPr>
            <a:xfrm>
              <a:off x="7227848" y="3086343"/>
              <a:ext cx="5209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632E3766-A265-ACB3-C596-B2DA966C3E47}"/>
                </a:ext>
              </a:extLst>
            </p:cNvPr>
            <p:cNvCxnSpPr>
              <a:cxnSpLocks/>
            </p:cNvCxnSpPr>
            <p:nvPr/>
          </p:nvCxnSpPr>
          <p:spPr>
            <a:xfrm>
              <a:off x="7239298" y="3695943"/>
              <a:ext cx="5209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4BB91035-F987-E120-3D0B-5BAC385808F3}"/>
                </a:ext>
              </a:extLst>
            </p:cNvPr>
            <p:cNvCxnSpPr>
              <a:cxnSpLocks/>
            </p:cNvCxnSpPr>
            <p:nvPr/>
          </p:nvCxnSpPr>
          <p:spPr>
            <a:xfrm>
              <a:off x="7248007" y="4176003"/>
              <a:ext cx="5209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459D9BB1-1CB3-F7A6-97B2-D7BF46D386D8}"/>
                </a:ext>
              </a:extLst>
            </p:cNvPr>
            <p:cNvCxnSpPr>
              <a:cxnSpLocks/>
            </p:cNvCxnSpPr>
            <p:nvPr/>
          </p:nvCxnSpPr>
          <p:spPr>
            <a:xfrm>
              <a:off x="7257342" y="4625583"/>
              <a:ext cx="5209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35E9ECFE-E417-8272-E1C1-31A29BFE334D}"/>
                </a:ext>
              </a:extLst>
            </p:cNvPr>
            <p:cNvSpPr/>
            <p:nvPr/>
          </p:nvSpPr>
          <p:spPr>
            <a:xfrm>
              <a:off x="7558611" y="2732598"/>
              <a:ext cx="1250553" cy="2106920"/>
            </a:xfrm>
            <a:prstGeom prst="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TextBox 68">
              <a:extLst>
                <a:ext uri="{FF2B5EF4-FFF2-40B4-BE49-F238E27FC236}">
                  <a16:creationId xmlns:a16="http://schemas.microsoft.com/office/drawing/2014/main" id="{22A4857C-3B7B-7D93-5C01-D486878E85F4}"/>
                </a:ext>
              </a:extLst>
            </p:cNvPr>
            <p:cNvSpPr txBox="1"/>
            <p:nvPr/>
          </p:nvSpPr>
          <p:spPr>
            <a:xfrm>
              <a:off x="7471529" y="4869947"/>
              <a:ext cx="13498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/>
                <a:t>FPN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TextBox 68">
                  <a:extLst>
                    <a:ext uri="{FF2B5EF4-FFF2-40B4-BE49-F238E27FC236}">
                      <a16:creationId xmlns:a16="http://schemas.microsoft.com/office/drawing/2014/main" id="{0E6E198D-6235-1989-B76E-60AEAD30509A}"/>
                    </a:ext>
                  </a:extLst>
                </p:cNvPr>
                <p:cNvSpPr txBox="1"/>
                <p:nvPr/>
              </p:nvSpPr>
              <p:spPr>
                <a:xfrm>
                  <a:off x="7871005" y="2931880"/>
                  <a:ext cx="134982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600" b="1" i="1" dirty="0"/>
                </a:p>
              </p:txBody>
            </p:sp>
          </mc:Choice>
          <mc:Fallback>
            <p:sp>
              <p:nvSpPr>
                <p:cNvPr id="182" name="TextBox 68">
                  <a:extLst>
                    <a:ext uri="{FF2B5EF4-FFF2-40B4-BE49-F238E27FC236}">
                      <a16:creationId xmlns:a16="http://schemas.microsoft.com/office/drawing/2014/main" id="{0E6E198D-6235-1989-B76E-60AEAD305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1005" y="2931880"/>
                  <a:ext cx="1349829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3" name="TextBox 68">
                  <a:extLst>
                    <a:ext uri="{FF2B5EF4-FFF2-40B4-BE49-F238E27FC236}">
                      <a16:creationId xmlns:a16="http://schemas.microsoft.com/office/drawing/2014/main" id="{AABE03B8-D745-9F2C-F7CC-E89AB8159A8E}"/>
                    </a:ext>
                  </a:extLst>
                </p:cNvPr>
                <p:cNvSpPr txBox="1"/>
                <p:nvPr/>
              </p:nvSpPr>
              <p:spPr>
                <a:xfrm>
                  <a:off x="7907674" y="3488521"/>
                  <a:ext cx="134982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600" b="1" i="1" dirty="0"/>
                </a:p>
              </p:txBody>
            </p:sp>
          </mc:Choice>
          <mc:Fallback>
            <p:sp>
              <p:nvSpPr>
                <p:cNvPr id="183" name="TextBox 68">
                  <a:extLst>
                    <a:ext uri="{FF2B5EF4-FFF2-40B4-BE49-F238E27FC236}">
                      <a16:creationId xmlns:a16="http://schemas.microsoft.com/office/drawing/2014/main" id="{AABE03B8-D745-9F2C-F7CC-E89AB8159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7674" y="3488521"/>
                  <a:ext cx="1349829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" name="TextBox 68">
                  <a:extLst>
                    <a:ext uri="{FF2B5EF4-FFF2-40B4-BE49-F238E27FC236}">
                      <a16:creationId xmlns:a16="http://schemas.microsoft.com/office/drawing/2014/main" id="{97308215-170A-E856-0099-1E7D99793A21}"/>
                    </a:ext>
                  </a:extLst>
                </p:cNvPr>
                <p:cNvSpPr txBox="1"/>
                <p:nvPr/>
              </p:nvSpPr>
              <p:spPr>
                <a:xfrm>
                  <a:off x="7871004" y="3938968"/>
                  <a:ext cx="134982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sz="1600" b="1" i="1" dirty="0"/>
                </a:p>
              </p:txBody>
            </p:sp>
          </mc:Choice>
          <mc:Fallback>
            <p:sp>
              <p:nvSpPr>
                <p:cNvPr id="184" name="TextBox 68">
                  <a:extLst>
                    <a:ext uri="{FF2B5EF4-FFF2-40B4-BE49-F238E27FC236}">
                      <a16:creationId xmlns:a16="http://schemas.microsoft.com/office/drawing/2014/main" id="{97308215-170A-E856-0099-1E7D99793A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1004" y="3938968"/>
                  <a:ext cx="1349829" cy="338554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5" name="TextBox 68">
                  <a:extLst>
                    <a:ext uri="{FF2B5EF4-FFF2-40B4-BE49-F238E27FC236}">
                      <a16:creationId xmlns:a16="http://schemas.microsoft.com/office/drawing/2014/main" id="{ABD92E40-21A5-0C22-9207-AC3C5B47F23A}"/>
                    </a:ext>
                  </a:extLst>
                </p:cNvPr>
                <p:cNvSpPr txBox="1"/>
                <p:nvPr/>
              </p:nvSpPr>
              <p:spPr>
                <a:xfrm>
                  <a:off x="8199182" y="4413468"/>
                  <a:ext cx="69347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sz="1600" b="1" i="1" dirty="0"/>
                </a:p>
              </p:txBody>
            </p:sp>
          </mc:Choice>
          <mc:Fallback>
            <p:sp>
              <p:nvSpPr>
                <p:cNvPr id="185" name="TextBox 68">
                  <a:extLst>
                    <a:ext uri="{FF2B5EF4-FFF2-40B4-BE49-F238E27FC236}">
                      <a16:creationId xmlns:a16="http://schemas.microsoft.com/office/drawing/2014/main" id="{ABD92E40-21A5-0C22-9207-AC3C5B47F2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9182" y="4413468"/>
                  <a:ext cx="693472" cy="33855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7" name="Rounded Rectangle 90">
              <a:extLst>
                <a:ext uri="{FF2B5EF4-FFF2-40B4-BE49-F238E27FC236}">
                  <a16:creationId xmlns:a16="http://schemas.microsoft.com/office/drawing/2014/main" id="{ECCC165B-A9CD-246E-B10F-1CF7455DB11D}"/>
                </a:ext>
              </a:extLst>
            </p:cNvPr>
            <p:cNvSpPr/>
            <p:nvPr/>
          </p:nvSpPr>
          <p:spPr>
            <a:xfrm>
              <a:off x="9327860" y="3446243"/>
              <a:ext cx="1782100" cy="521522"/>
            </a:xfrm>
            <a:prstGeom prst="roundRect">
              <a:avLst/>
            </a:prstGeom>
            <a:solidFill>
              <a:srgbClr val="FFC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ysClr val="windowText" lastClr="000000"/>
                  </a:solidFill>
                </a:rPr>
                <a:t>DINO Detector</a:t>
              </a: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8E363EFF-8B44-DD1E-2E4B-FEAE3C99DA96}"/>
                </a:ext>
              </a:extLst>
            </p:cNvPr>
            <p:cNvGrpSpPr/>
            <p:nvPr/>
          </p:nvGrpSpPr>
          <p:grpSpPr>
            <a:xfrm>
              <a:off x="8009654" y="5457168"/>
              <a:ext cx="332324" cy="953136"/>
              <a:chOff x="8055020" y="5356227"/>
              <a:chExt cx="332324" cy="953136"/>
            </a:xfrm>
          </p:grpSpPr>
          <p:sp>
            <p:nvSpPr>
              <p:cNvPr id="94" name="Rounded Rectangle 93">
                <a:extLst>
                  <a:ext uri="{FF2B5EF4-FFF2-40B4-BE49-F238E27FC236}">
                    <a16:creationId xmlns:a16="http://schemas.microsoft.com/office/drawing/2014/main" id="{8F658A39-3DBA-2B97-4438-4578DBCD8049}"/>
                  </a:ext>
                </a:extLst>
              </p:cNvPr>
              <p:cNvSpPr/>
              <p:nvPr/>
            </p:nvSpPr>
            <p:spPr>
              <a:xfrm>
                <a:off x="8055020" y="5356227"/>
                <a:ext cx="332324" cy="953136"/>
              </a:xfrm>
              <a:prstGeom prst="roundRect">
                <a:avLst/>
              </a:prstGeom>
              <a:solidFill>
                <a:srgbClr val="FFC000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r>
                  <a:rPr lang="en-US" sz="1400" dirty="0">
                    <a:solidFill>
                      <a:sysClr val="windowText" lastClr="000000"/>
                    </a:solidFill>
                  </a:rPr>
                  <a:t> M L P</a:t>
                </a:r>
              </a:p>
            </p:txBody>
          </p:sp>
          <p:pic>
            <p:nvPicPr>
              <p:cNvPr id="188" name="Picture 37">
                <a:extLst>
                  <a:ext uri="{FF2B5EF4-FFF2-40B4-BE49-F238E27FC236}">
                    <a16:creationId xmlns:a16="http://schemas.microsoft.com/office/drawing/2014/main" id="{2BA1283A-1FE7-6A5E-7E24-251D5AF18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00659" y="5952359"/>
                <a:ext cx="257492" cy="315397"/>
              </a:xfrm>
              <a:prstGeom prst="rect">
                <a:avLst/>
              </a:prstGeom>
            </p:spPr>
          </p:pic>
        </p:grpSp>
        <p:pic>
          <p:nvPicPr>
            <p:cNvPr id="189" name="Picture 37">
              <a:extLst>
                <a:ext uri="{FF2B5EF4-FFF2-40B4-BE49-F238E27FC236}">
                  <a16:creationId xmlns:a16="http://schemas.microsoft.com/office/drawing/2014/main" id="{2EDEC800-E6CA-333B-BECF-B5E3FB6C8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662283" y="3500864"/>
              <a:ext cx="336588" cy="412280"/>
            </a:xfrm>
            <a:prstGeom prst="rect">
              <a:avLst/>
            </a:prstGeom>
          </p:spPr>
        </p:pic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776E35C6-A249-43AC-CE45-13871C0940D3}"/>
                </a:ext>
              </a:extLst>
            </p:cNvPr>
            <p:cNvCxnSpPr>
              <a:cxnSpLocks/>
            </p:cNvCxnSpPr>
            <p:nvPr/>
          </p:nvCxnSpPr>
          <p:spPr>
            <a:xfrm>
              <a:off x="8797926" y="3707247"/>
              <a:ext cx="5209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A4FE820-D445-37B7-AC4A-F7D296A35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8797" y="5901035"/>
              <a:ext cx="43675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B49731B-9202-6913-B45E-72CD915DABE4}"/>
                </a:ext>
              </a:extLst>
            </p:cNvPr>
            <p:cNvSpPr/>
            <p:nvPr/>
          </p:nvSpPr>
          <p:spPr>
            <a:xfrm>
              <a:off x="8658559" y="5852883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58F8418-95C1-9F6B-77D6-6EC2F2B571CD}"/>
                </a:ext>
              </a:extLst>
            </p:cNvPr>
            <p:cNvSpPr/>
            <p:nvPr/>
          </p:nvSpPr>
          <p:spPr>
            <a:xfrm>
              <a:off x="8854061" y="5852883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704FCC5-89A9-1104-2E4B-72C6984BBC1E}"/>
                </a:ext>
              </a:extLst>
            </p:cNvPr>
            <p:cNvSpPr/>
            <p:nvPr/>
          </p:nvSpPr>
          <p:spPr>
            <a:xfrm>
              <a:off x="9051202" y="5852883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8EFCC48-8D20-1DD1-9E3A-03F31C95BA03}"/>
                </a:ext>
              </a:extLst>
            </p:cNvPr>
            <p:cNvSpPr/>
            <p:nvPr/>
          </p:nvSpPr>
          <p:spPr>
            <a:xfrm>
              <a:off x="9456866" y="5852883"/>
              <a:ext cx="146680" cy="1434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BD797EF-3859-A7EF-CA4B-F342E4979C93}"/>
                </a:ext>
              </a:extLst>
            </p:cNvPr>
            <p:cNvSpPr txBox="1"/>
            <p:nvPr/>
          </p:nvSpPr>
          <p:spPr>
            <a:xfrm>
              <a:off x="9151041" y="5685665"/>
              <a:ext cx="332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F6A727E5-F262-3FBA-0BCD-10603ABFAC09}"/>
                    </a:ext>
                  </a:extLst>
                </p:cNvPr>
                <p:cNvSpPr txBox="1"/>
                <p:nvPr/>
              </p:nvSpPr>
              <p:spPr>
                <a:xfrm>
                  <a:off x="8229405" y="5983182"/>
                  <a:ext cx="1997400" cy="3261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Flatten</m:t>
                            </m:r>
                            <m:r>
                              <a:rPr lang="zh-CN" alt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to</m:t>
                            </m:r>
                            <m:r>
                              <a:rPr lang="zh-CN" alt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(36, 64)</m:t>
                            </m:r>
                          </m:sup>
                        </m:sSup>
                      </m:oMath>
                    </m:oMathPara>
                  </a14:m>
                  <a:endParaRPr lang="en-US" sz="12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F6A727E5-F262-3FBA-0BCD-10603ABFAC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405" y="5983182"/>
                  <a:ext cx="1997400" cy="326180"/>
                </a:xfrm>
                <a:prstGeom prst="rect">
                  <a:avLst/>
                </a:prstGeom>
                <a:blipFill>
                  <a:blip r:embed="rId23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1092C28B-0566-272F-10D4-3C53456B94DA}"/>
                </a:ext>
              </a:extLst>
            </p:cNvPr>
            <p:cNvCxnSpPr>
              <a:stCxn id="59" idx="1"/>
              <a:endCxn id="94" idx="3"/>
            </p:cNvCxnSpPr>
            <p:nvPr/>
          </p:nvCxnSpPr>
          <p:spPr>
            <a:xfrm flipH="1">
              <a:off x="8341978" y="5924600"/>
              <a:ext cx="316581" cy="91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Elbow Connector 107">
              <a:extLst>
                <a:ext uri="{FF2B5EF4-FFF2-40B4-BE49-F238E27FC236}">
                  <a16:creationId xmlns:a16="http://schemas.microsoft.com/office/drawing/2014/main" id="{0050213D-D1BE-2162-9311-A479EB26D37C}"/>
                </a:ext>
              </a:extLst>
            </p:cNvPr>
            <p:cNvCxnSpPr>
              <a:stCxn id="94" idx="0"/>
              <a:endCxn id="95" idx="2"/>
            </p:cNvCxnSpPr>
            <p:nvPr/>
          </p:nvCxnSpPr>
          <p:spPr>
            <a:xfrm rot="16200000" flipV="1">
              <a:off x="7182438" y="4463790"/>
              <a:ext cx="756986" cy="1229770"/>
            </a:xfrm>
            <a:prstGeom prst="bentConnector3">
              <a:avLst>
                <a:gd name="adj1" fmla="val 31881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561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5358-5CCF-12C1-1D81-D5C0308F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3565"/>
          </a:xfrm>
        </p:spPr>
        <p:txBody>
          <a:bodyPr>
            <a:normAutofit/>
          </a:bodyPr>
          <a:lstStyle/>
          <a:p>
            <a:r>
              <a:rPr lang="en-US" sz="2800" dirty="0"/>
              <a:t>Training Details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1928A-F604-5B50-1F1B-06E0297AC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965"/>
            <a:ext cx="10515600" cy="191198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/>
              <a:t>Dataset is sparsely labeled, so we ignore unlabeled regions -&gt; ignore negative samples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DINO Detector: Apply</a:t>
            </a:r>
            <a:r>
              <a:rPr lang="zh-CN" altLang="en-US" sz="2000" dirty="0"/>
              <a:t> </a:t>
            </a:r>
            <a:r>
              <a:rPr lang="en-US" sz="2000" dirty="0"/>
              <a:t>Masking Strategy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   Sparse</a:t>
            </a:r>
            <a:r>
              <a:rPr lang="zh-CN" altLang="en-US" sz="2000" dirty="0"/>
              <a:t> </a:t>
            </a:r>
            <a:r>
              <a:rPr lang="en-US" altLang="zh-CN" sz="2000" dirty="0"/>
              <a:t>(Precision + Recall + F1 + AP) and confusion matrix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29E0F6-AEC4-CE32-CAFA-1382241BB533}"/>
              </a:ext>
            </a:extLst>
          </p:cNvPr>
          <p:cNvSpPr/>
          <p:nvPr/>
        </p:nvSpPr>
        <p:spPr>
          <a:xfrm>
            <a:off x="2045970" y="4149883"/>
            <a:ext cx="1268730" cy="12801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3FC17-78AF-C96A-6A2D-E2E889562A60}"/>
              </a:ext>
            </a:extLst>
          </p:cNvPr>
          <p:cNvSpPr/>
          <p:nvPr/>
        </p:nvSpPr>
        <p:spPr>
          <a:xfrm>
            <a:off x="2571750" y="4460875"/>
            <a:ext cx="1268730" cy="12801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448C80-AD38-16BE-6699-9ADC658024DF}"/>
              </a:ext>
            </a:extLst>
          </p:cNvPr>
          <p:cNvSpPr/>
          <p:nvPr/>
        </p:nvSpPr>
        <p:spPr>
          <a:xfrm>
            <a:off x="2571750" y="4460875"/>
            <a:ext cx="742950" cy="96916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AB27BB1A-C060-B9C1-630E-8D1B2E64A010}"/>
              </a:ext>
            </a:extLst>
          </p:cNvPr>
          <p:cNvSpPr/>
          <p:nvPr/>
        </p:nvSpPr>
        <p:spPr>
          <a:xfrm>
            <a:off x="4183380" y="4676854"/>
            <a:ext cx="548640" cy="537210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EFF5A-0615-F48B-A30C-49FF8DB051BB}"/>
              </a:ext>
            </a:extLst>
          </p:cNvPr>
          <p:cNvSpPr txBox="1"/>
          <p:nvPr/>
        </p:nvSpPr>
        <p:spPr>
          <a:xfrm>
            <a:off x="5154930" y="3836976"/>
            <a:ext cx="5669280" cy="1679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IoU</a:t>
            </a:r>
            <a:r>
              <a:rPr lang="en-US" dirty="0"/>
              <a:t> &gt; 0.5  and </a:t>
            </a:r>
            <a:r>
              <a:rPr lang="en-US" b="1" dirty="0"/>
              <a:t>correct</a:t>
            </a:r>
            <a:r>
              <a:rPr lang="en-US" dirty="0"/>
              <a:t> species -&gt; True positive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IoU</a:t>
            </a:r>
            <a:r>
              <a:rPr lang="en-US" dirty="0"/>
              <a:t> &gt; 0.5  and </a:t>
            </a:r>
            <a:r>
              <a:rPr lang="en-US" b="1" dirty="0"/>
              <a:t>wrong</a:t>
            </a:r>
            <a:r>
              <a:rPr lang="en-US" dirty="0"/>
              <a:t> species -&gt; False positive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Labeled GT did not match any </a:t>
            </a:r>
            <a:r>
              <a:rPr lang="en-US" dirty="0" err="1"/>
              <a:t>bbox</a:t>
            </a:r>
            <a:r>
              <a:rPr lang="en-US" dirty="0"/>
              <a:t> -&gt; False Negative</a:t>
            </a:r>
          </a:p>
        </p:txBody>
      </p:sp>
    </p:spTree>
    <p:extLst>
      <p:ext uri="{BB962C8B-B14F-4D97-AF65-F5344CB8AC3E}">
        <p14:creationId xmlns:p14="http://schemas.microsoft.com/office/powerpoint/2010/main" val="2904697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139</Words>
  <Application>Microsoft Macintosh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Training Details and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  Yixin</dc:creator>
  <cp:lastModifiedBy>Zhou  Yixin</cp:lastModifiedBy>
  <cp:revision>6</cp:revision>
  <dcterms:created xsi:type="dcterms:W3CDTF">2025-11-19T12:13:50Z</dcterms:created>
  <dcterms:modified xsi:type="dcterms:W3CDTF">2025-11-20T10:25:07Z</dcterms:modified>
</cp:coreProperties>
</file>